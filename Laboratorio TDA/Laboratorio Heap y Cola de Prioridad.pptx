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embeddedFontLst>
    <p:embeddedFont>
      <p:font typeface="JetBrains Mono" panose="02000009000000000000" pitchFamily="49" charset="0"/>
      <p:regular r:id="rId20"/>
      <p:bold r:id="rId2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font" Target="fonts/font1.fntdata"/><Relationship Id="rId21"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Buenas tardes. Vamos a presentar el laboratorio de gestión de tareas con Heap y Cola de Prioridad. Un centro de cómputo recibe tareas y tiene que procesar primero las de mayor prioridad. Para eso usamos un Max-Heap guardado en un arreglo, encima construimos una cola de prioridad, y al final ordenamos las prioridades con HeapSort.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tarea tiene código, nombre y prioridad, y la regla es que la prioridad numérica mayor se procesa primero. En el ejemplo, T03, Renderizar video, con prioridad 10, es la primera. El laboratorio pide implementar el Max-Heap con un arreglo, sin nodos ni punteros, programar a mano MAX-HEAPIFY, BUILD-MAX-HEAP, MAXIMUM, EXTRACT-MAX y la inserción, y ordenar con HeapSort sin usar heapq, sort ni sorted.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heap es un árbol binario completo, así que lo guardamos en una lista. Si un nodo está en la posición i, su hijo izquierdo está en 2i más 1, el derecho en 2i más 2, y el padre en i menos 1 dividido 2, división entera. Por ejemplo, el 7 está en la posición 1: sus hijos están en 3 y 4, que son el 3 y el 4. La propiedad que siempre se cumple es que el padre tiene prioridad mayor o igual que sus hijos, por eso el 10 queda en la raíz. En cada posición guardamos la tarea completa como diccionario, pero comparamos solo la prioridad.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MAX-HEAPIFY recibe una posición i. Busca cuál es el mayor entre el nodo y sus dos hijos. Si el mayor no es el mismo nodo, los intercambia y llama otra vez MAX-HEAPIFY en la posición donde quedó, así el nodo va bajando hasta que cumple la propiedad. BUILD-MAX-HEAP copia la lista para no perder la original y llama MAX-HEAPIFY desde n/2 menos 1 hasta la raíz, porque de la mitad del arreglo en adelante todos los nodos son hojas, y una hoja ya es un heap. Aquí el código está simplificado; en el notebook comparamos la prioridad de cada tarea.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Hagamos el ejemplo del enunciado. La lista es 8, 4, 10, 3, 7. Como n es 5, empezamos en i igual a 1. Ahí está el 4, con hijos 3 y 7: el mayor es el 7, así que se intercambian. Luego pasamos a la raíz, i igual a 0: el 8 tiene hijos 7 y 10, el mayor es el 10, y se intercambian. El 8 queda en la posición 2, que ya no tiene hijos, así que para. El resultado es 10, 7, 8, 3, 4, exactamente el Max-Heap que pide el enunciado.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MAXIMUM es lo más simple: la tarea de mayor prioridad siempre está en la posición 0, así que solo la leemos sin quitarla, en tiempo constante. En el ejemplo es T03, Renderizar video, prioridad 10. EXTRACT-MAX procesa esa tarea: guardamos la raíz, ponemos el último elemento, el 4, en la raíz, lo quitamos del final y aplicamos MAX-HEAPIFY desde la posición 0. El 4 tiene hijos 7 y 8, cambia con el 8, y queda 8, 7, 4, 3, igual que el enunciado. Si el heap está vacío, las dos operaciones devuelven None y el programa avisa.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insertar, por ejemplo T06, Actualizar servidor, con prioridad 12, la agregamos al final del arreglo, en la posición 4. Su padre está en la posición 1, que es el 7. Como 7 es menor que 12, se intercambian. Ahora está en la posición 1 y su padre es la raíz, el 8, que también es menor, así que vuelve a subir y llega a la raíz. Queda 12, 8, 4, 3, 7. Aquí no usamos MAX-HEAPIFY porque el elemento entra por abajo: en vez de bajar, sube. En el peor caso sube toda la altura, O(log 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HeapSort usa todo lo anterior. Primero construye el Max-Heap. Después, en cada paso, intercambia la raíz, que es el mayor, con la última posición que no está ordenada, reduce el tamaño del heap en uno y aplica MAX-HEAPIFY sobre la parte que queda. Así el mayor va quedando al final. Con el ejemplo: el heap es 10, 7, 8, 3, 4; sale el 10 al final, luego el 8, luego el 7 y luego el 4, y queda 3, 4, 7, 8, 10, de menor a mayor. No usamos heapq, sort ni sorted.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diagrama de flujo del programa. Primero un ciclo lee las n tareas y se muestra la lista original. Luego se construye el heap y se muestra como arreglo y como árbol. Después vienen las operaciones de la cola de prioridad: MAXIMUM, EXTRACT-MAX, que primero revisa si el heap está vacío, y la inserción de una tarea nueva. Al final, HeapSort muestra la lista original, el Max-Heap y la lista ordenada.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la prueba final registramos seis tareas: las cinco del enunciado y T06, Escanear vulnerabilidades, con prioridad 9. La lista original queda 8, 4, 10, 3, 7, 9. El Max-Heap es 10, 7, 9, 3, 4, 8: aquí el 9 sube porque queda como hijo del 8. MAXIMUM devuelve T03 con prioridad 10. EXTRACT-MAX la procesa y el heap queda 9, 7, 8, 3, 4. Insertamos T07, Actualizar servidor, con prioridad 12, que sube hasta la raíz. Y HeapSort da 3, 4, 7, 8, 9, 10. (Si piden verlo en vivo, abrir el notebook y mostrar la celda de la prueba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 depende de la altura del árbol, que es log n porque el heap es completo. MAX-HEAPIFY baja como máximo esa altura, así que es O(log n); en el mejor caso el nodo ya está bien y es O(1). EXTRACT-MAX e insertar también son O(log n), y MAXIMUM es O(1). BUILD-MAX-HEAP parece n log n, pero es O(n): la mitad de los nodos son hojas y no bajan, un cuarto baja un nivel, y así; esa suma da lineal. HeapSort construye en O(n) y hace n menos 1 extracciones de O(log n), en total O(n log n). El mejor caso es O(n), cuando todas las prioridades son iguales y MAX-HEAPIFY nunca intercambia. La memoria extra del algoritmo es O(1) porque trabaja sobre el mismo arreglo.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los tests comprobamos tres cosas. Primero, los ejemplos del enunciado: el Max-Heap 10, 7, 8, 3, 4; después de EXTRACT-MAX 8, 7, 4, 3; el 12 quedando en la raíz; y HeapSort 3, 4, 7, 8, 10. Segundo, casos borde: heap vacío, donde MAXIMUM y EXTRACT-MAX devuelven None, un solo elemento, prioridades repetidas, y listas ya ordenadas o invertidas. Tercero, 200 listas aleatorias: en todas verificamos que el heap cumpla la propiedad y que HeapSort deje la lista ordenada. Los 20 casos y las 200 listas pasan.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cerrar: con un simple arreglo tenemos siempre a mano la tarea más urgente. Consultarla cuesta O(1), y procesarla o agregar una nueva cuesta O(log n), mucho mejor que recorrer toda la lista. Construir el heap cuesta O(n), y HeapSort ordena en O(n log n) sin memoria extra y sin usar sort ni sorted. Muchas gracias, quedamos atentos a sus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7F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72541"/>
            <a:ext cx="10566400" cy="391160"/>
          </a:xfrm>
          <a:prstGeom prst="rect">
            <a:avLst/>
          </a:prstGeom>
          <a:noFill/>
          <a:ln/>
        </p:spPr>
        <p:txBody>
          <a:bodyPr wrap="square" lIns="0" tIns="0" rIns="0" bIns="0" rtlCol="0" anchor="t"/>
          <a:lstStyle>
            <a:lvl1pPr algn="l" indent="0" marL="0">
              <a:lnSpc>
                <a:spcPct val="115000"/>
              </a:lnSpc>
              <a:buNone/>
              <a:defRPr lang="en-US" sz="2800" dirty="0">
                <a:solidFill>
                  <a:srgbClr val="13263A"/>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968501"/>
            <a:ext cx="10566400" cy="4076699"/>
          </a:xfrm>
          <a:prstGeom prst="rect">
            <a:avLst/>
          </a:prstGeom>
          <a:noFill/>
          <a:ln/>
        </p:spPr>
        <p:txBody>
          <a:bodyPr wrap="square" lIns="0" tIns="0" rIns="0" bIns="0" rtlCol="0" anchor="t"/>
          <a:lstStyle>
            <a:lvl1pPr algn="l" indent="0" marL="0">
              <a:lnSpc>
                <a:spcPct val="140000"/>
              </a:lnSpc>
              <a:buNone/>
              <a:defRPr lang="en-US" sz="1600" dirty="0">
                <a:solidFill>
                  <a:srgbClr val="13263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7F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72541"/>
            <a:ext cx="10566400" cy="391160"/>
          </a:xfrm>
          <a:prstGeom prst="rect">
            <a:avLst/>
          </a:prstGeom>
          <a:noFill/>
          <a:ln/>
        </p:spPr>
        <p:txBody>
          <a:bodyPr wrap="square" lIns="0" tIns="0" rIns="0" bIns="0" rtlCol="0" anchor="t"/>
          <a:lstStyle>
            <a:lvl1pPr algn="l" indent="0" marL="0">
              <a:lnSpc>
                <a:spcPct val="115000"/>
              </a:lnSpc>
              <a:buNone/>
              <a:defRPr lang="en-US" sz="2800" dirty="0">
                <a:solidFill>
                  <a:srgbClr val="13263A"/>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968501"/>
            <a:ext cx="10566400" cy="4076699"/>
          </a:xfrm>
          <a:prstGeom prst="rect">
            <a:avLst/>
          </a:prstGeom>
          <a:noFill/>
          <a:ln/>
        </p:spPr>
        <p:txBody>
          <a:bodyPr wrap="square" lIns="0" tIns="0" rIns="0" bIns="0" rtlCol="0" anchor="t"/>
          <a:lstStyle>
            <a:lvl1pPr algn="l" indent="0" marL="0">
              <a:lnSpc>
                <a:spcPct val="140000"/>
              </a:lnSpc>
              <a:buNone/>
              <a:defRPr lang="en-US" sz="1600" dirty="0">
                <a:solidFill>
                  <a:srgbClr val="13263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63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F2A65A"/>
                </a:solidFill>
                <a:latin typeface="IBM Plex Sans" pitchFamily="34" charset="0"/>
                <a:ea typeface="IBM Plex Sans" pitchFamily="34" charset="-122"/>
                <a:cs typeface="IBM Plex Sans" pitchFamily="34" charset="-120"/>
              </a:rPr>
              <a:t>DISEÑO DE DATOS Y ALGORITMOS · LABORATORIO</a:t>
            </a:r>
            <a:endParaRPr lang="en-US" sz="1400" dirty="0"/>
          </a:p>
        </p:txBody>
      </p:sp>
      <p:sp>
        <p:nvSpPr>
          <p:cNvPr id="3" name="Text 1"/>
          <p:cNvSpPr/>
          <p:nvPr>
            <p:ph type="title"/>
          </p:nvPr>
        </p:nvSpPr>
        <p:spPr>
          <a:xfrm>
            <a:off x="812800" y="1290320"/>
            <a:ext cx="9810750" cy="1451769"/>
          </a:xfrm>
          <a:prstGeom prst="rect">
            <a:avLst/>
          </a:prstGeom>
          <a:noFill/>
          <a:ln/>
        </p:spPr>
        <p:txBody>
          <a:bodyPr wrap="square" lIns="0" tIns="0" rIns="0" bIns="0" rtlCol="0" anchor="t">
            <a:normAutofit/>
          </a:bodyPr>
          <a:lstStyle/>
          <a:p>
            <a:pPr algn="l" indent="0" marL="0">
              <a:lnSpc>
                <a:spcPts val="5616"/>
              </a:lnSpc>
              <a:buNone/>
            </a:pPr>
            <a:r>
              <a:rPr lang="en-US" sz="5200" b="1" i="0" dirty="0">
                <a:solidFill>
                  <a:srgbClr val="F5F7FA"/>
                </a:solidFill>
                <a:latin typeface="IBM Plex Sans" pitchFamily="34" charset="0"/>
                <a:ea typeface="IBM Plex Sans" pitchFamily="34" charset="-122"/>
                <a:cs typeface="IBM Plex Sans" pitchFamily="34" charset="-120"/>
              </a:rPr>
              <a:t>Gestión de tareas con Heap y Cola de Prioridad</a:t>
            </a:r>
            <a:endParaRPr lang="en-US" sz="5200" dirty="0"/>
          </a:p>
        </p:txBody>
      </p:sp>
      <p:sp>
        <p:nvSpPr>
          <p:cNvPr id="4" name="Text 2"/>
          <p:cNvSpPr/>
          <p:nvPr/>
        </p:nvSpPr>
        <p:spPr>
          <a:xfrm>
            <a:off x="812800" y="2945289"/>
            <a:ext cx="915670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B9C6D6"/>
                </a:solidFill>
                <a:latin typeface="IBM Plex Sans" pitchFamily="34" charset="0"/>
                <a:ea typeface="IBM Plex Sans" pitchFamily="34" charset="-122"/>
                <a:cs typeface="IBM Plex Sans" pitchFamily="34" charset="-120"/>
              </a:rPr>
              <a:t>Un Max-Heap en un arreglo para procesar primero las tareas más urgentes, y HeapSort para ordenarlas.</a:t>
            </a:r>
            <a:endParaRPr lang="en-US" sz="2000" dirty="0"/>
          </a:p>
        </p:txBody>
      </p:sp>
      <p:sp>
        <p:nvSpPr>
          <p:cNvPr id="5" name="Text 3"/>
          <p:cNvSpPr/>
          <p:nvPr/>
        </p:nvSpPr>
        <p:spPr>
          <a:xfrm>
            <a:off x="812800" y="533654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9C6D6"/>
                </a:solidFill>
                <a:latin typeface="IBM Plex Sans" pitchFamily="34" charset="0"/>
                <a:ea typeface="IBM Plex Sans" pitchFamily="34" charset="-122"/>
                <a:cs typeface="IBM Plex Sans" pitchFamily="34" charset="-120"/>
              </a:rPr>
              <a:t>Juan Pablo León · Mateo Barrios · Santiago Lugo · Alejandro Peña</a:t>
            </a:r>
            <a:endParaRPr lang="en-US" sz="1500" dirty="0"/>
          </a:p>
        </p:txBody>
      </p:sp>
      <p:sp>
        <p:nvSpPr>
          <p:cNvPr id="6" name="Text 4"/>
          <p:cNvSpPr/>
          <p:nvPr/>
        </p:nvSpPr>
        <p:spPr>
          <a:xfrm>
            <a:off x="812800" y="583184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6D6"/>
                </a:solidFill>
                <a:latin typeface="IBM Plex Sans" pitchFamily="34" charset="0"/>
                <a:ea typeface="IBM Plex Sans" pitchFamily="34" charset="-122"/>
                <a:cs typeface="IBM Plex Sans" pitchFamily="34" charset="-120"/>
              </a:rPr>
              <a:t>Escuela Colombiana de Ingeniería Julio Garavito</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1F6BC0"/>
                </a:solidFill>
                <a:latin typeface="IBM Plex Sans" pitchFamily="34" charset="0"/>
                <a:ea typeface="IBM Plex Sans" pitchFamily="34" charset="-122"/>
                <a:cs typeface="IBM Plex Sans" pitchFamily="34" charset="-120"/>
              </a:rPr>
              <a:t>EL PROBLEMA</a:t>
            </a:r>
            <a:endParaRPr lang="en-US" sz="1300" dirty="0"/>
          </a:p>
        </p:txBody>
      </p:sp>
      <p:sp>
        <p:nvSpPr>
          <p:cNvPr id="3" name="Text 1"/>
          <p:cNvSpPr/>
          <p:nvPr>
            <p:ph type="title"/>
          </p:nvPr>
        </p:nvSpPr>
        <p:spPr>
          <a:xfrm>
            <a:off x="812800" y="129794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63A"/>
                </a:solidFill>
                <a:latin typeface="IBM Plex Sans" pitchFamily="34" charset="0"/>
                <a:ea typeface="IBM Plex Sans" pitchFamily="34" charset="-122"/>
                <a:cs typeface="IBM Plex Sans" pitchFamily="34" charset="-120"/>
              </a:rPr>
              <a:t>Las tareas con mayor prioridad se procesan primero.</a:t>
            </a:r>
            <a:endParaRPr lang="en-US" sz="3200" dirty="0"/>
          </a:p>
        </p:txBody>
      </p:sp>
      <p:sp>
        <p:nvSpPr>
          <p:cNvPr id="4" name="Shape 2"/>
          <p:cNvSpPr/>
          <p:nvPr/>
        </p:nvSpPr>
        <p:spPr>
          <a:xfrm>
            <a:off x="812800" y="1998980"/>
            <a:ext cx="6223000" cy="2631440"/>
          </a:xfrm>
          <a:prstGeom prst="rect">
            <a:avLst/>
          </a:prstGeom>
          <a:solidFill>
            <a:srgbClr val="FFFFFF"/>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2009140"/>
          <a:ext cx="6212840" cy="2621280"/>
        </p:xfrm>
        <a:graphic>
          <a:graphicData uri="http://schemas.openxmlformats.org/drawingml/2006/table">
            <a:tbl>
              <a:tblPr/>
              <a:tblGrid>
                <a:gridCol w="1118311"/>
                <a:gridCol w="3727704"/>
                <a:gridCol w="1366825"/>
              </a:tblGrid>
              <a:tr h="436880">
                <a:tc>
                  <a:txBody>
                    <a:bodyPr/>
                    <a:lstStyle/>
                    <a:p>
                      <a:pPr indent="0" marL="0">
                        <a:lnSpc>
                          <a:spcPts val="1960"/>
                        </a:lnSpc>
                        <a:buNone/>
                      </a:pPr>
                      <a:r>
                        <a:rPr lang="en-US" sz="1400" b="1" dirty="0">
                          <a:solidFill>
                            <a:srgbClr val="F5F7FA"/>
                          </a:solidFill>
                          <a:latin typeface="IBM Plex Sans" pitchFamily="34" charset="0"/>
                          <a:ea typeface="IBM Plex Sans" pitchFamily="34" charset="-122"/>
                          <a:cs typeface="IBM Plex Sans" pitchFamily="34" charset="-120"/>
                        </a:rPr>
                        <a:t>Código</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13223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32231"/>
                      </a:solidFill>
                      <a:prstDash val="solid"/>
                      <a:round/>
                      <a:headEnd type="none" w="med" len="med"/>
                      <a:tailEnd type="none" w="med" len="med"/>
                    </a:lnB>
                    <a:solidFill>
                      <a:srgbClr val="13263A"/>
                    </a:solidFill>
                  </a:tcPr>
                </a:tc>
                <a:tc>
                  <a:txBody>
                    <a:bodyPr/>
                    <a:lstStyle/>
                    <a:p>
                      <a:pPr indent="0" marL="0">
                        <a:lnSpc>
                          <a:spcPts val="1960"/>
                        </a:lnSpc>
                        <a:buNone/>
                      </a:pPr>
                      <a:r>
                        <a:rPr lang="en-US" sz="1400" b="1" dirty="0">
                          <a:solidFill>
                            <a:srgbClr val="F5F7FA"/>
                          </a:solidFill>
                          <a:latin typeface="IBM Plex Sans" pitchFamily="34" charset="0"/>
                          <a:ea typeface="IBM Plex Sans" pitchFamily="34" charset="-122"/>
                          <a:cs typeface="IBM Plex Sans" pitchFamily="34" charset="-120"/>
                        </a:rPr>
                        <a:t>Nombre</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132231"/>
                      </a:solidFill>
                      <a:prstDash val="solid"/>
                      <a:round/>
                      <a:headEnd type="none" w="med" len="med"/>
                      <a:tailEnd type="none" w="med" len="med"/>
                    </a:lnL>
                    <a:lnR w="12700" cap="flat" cmpd="sng" algn="ctr">
                      <a:solidFill>
                        <a:srgbClr val="13223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32231"/>
                      </a:solidFill>
                      <a:prstDash val="solid"/>
                      <a:round/>
                      <a:headEnd type="none" w="med" len="med"/>
                      <a:tailEnd type="none" w="med" len="med"/>
                    </a:lnB>
                    <a:solidFill>
                      <a:srgbClr val="13263A"/>
                    </a:solidFill>
                  </a:tcPr>
                </a:tc>
                <a:tc>
                  <a:txBody>
                    <a:bodyPr/>
                    <a:lstStyle/>
                    <a:p>
                      <a:pPr algn="ctr" indent="0" marL="0">
                        <a:lnSpc>
                          <a:spcPts val="1960"/>
                        </a:lnSpc>
                        <a:buNone/>
                      </a:pPr>
                      <a:r>
                        <a:rPr lang="en-US" sz="1400" b="1" dirty="0">
                          <a:solidFill>
                            <a:srgbClr val="F5F7FA"/>
                          </a:solidFill>
                          <a:latin typeface="IBM Plex Sans" pitchFamily="34" charset="0"/>
                          <a:ea typeface="IBM Plex Sans" pitchFamily="34" charset="-122"/>
                          <a:cs typeface="IBM Plex Sans" pitchFamily="34" charset="-120"/>
                        </a:rPr>
                        <a:t>Prioridad</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132231"/>
                      </a:solidFill>
                      <a:prstDash val="solid"/>
                      <a:round/>
                      <a:headEnd type="none" w="med" len="med"/>
                      <a:tailEnd type="none" w="med" len="med"/>
                    </a:lnL>
                    <a:lnR w="12700" cap="flat" cmpd="sng" algn="ctr">
                      <a:solidFill>
                        <a:srgbClr val="13223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32231"/>
                      </a:solidFill>
                      <a:prstDash val="solid"/>
                      <a:round/>
                      <a:headEnd type="none" w="med" len="med"/>
                      <a:tailEnd type="none" w="med" len="med"/>
                    </a:lnB>
                    <a:solidFill>
                      <a:srgbClr val="13263A"/>
                    </a:solidFill>
                  </a:tcPr>
                </a:tc>
              </a:tr>
              <a:tr h="436880">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T01</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322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Compilar proyecto</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322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8</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322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6880">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T02</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Generar backup</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4</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6880">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T03</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9B5A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9B5A8"/>
                      </a:solidFill>
                      <a:prstDash val="solid"/>
                      <a:round/>
                      <a:headEnd type="none" w="med" len="med"/>
                      <a:tailEnd type="none" w="med" len="med"/>
                    </a:lnB>
                    <a:solidFill>
                      <a:srgbClr val="FCE3D2"/>
                    </a:solidFill>
                  </a:tcPr>
                </a:tc>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Renderizar video</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9B5A8"/>
                      </a:solidFill>
                      <a:prstDash val="solid"/>
                      <a:round/>
                      <a:headEnd type="none" w="med" len="med"/>
                      <a:tailEnd type="none" w="med" len="med"/>
                    </a:lnL>
                    <a:lnR w="12700" cap="flat" cmpd="sng" algn="ctr">
                      <a:solidFill>
                        <a:srgbClr val="C9B5A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9B5A8"/>
                      </a:solidFill>
                      <a:prstDash val="solid"/>
                      <a:round/>
                      <a:headEnd type="none" w="med" len="med"/>
                      <a:tailEnd type="none" w="med" len="med"/>
                    </a:lnB>
                    <a:solidFill>
                      <a:srgbClr val="FCE3D2"/>
                    </a:solidFill>
                  </a:tcPr>
                </a:tc>
                <a:tc>
                  <a:txBody>
                    <a:bodyPr/>
                    <a:lstStyle/>
                    <a:p>
                      <a:pPr algn="ct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10</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9B5A8"/>
                      </a:solidFill>
                      <a:prstDash val="solid"/>
                      <a:round/>
                      <a:headEnd type="none" w="med" len="med"/>
                      <a:tailEnd type="none" w="med" len="med"/>
                    </a:lnL>
                    <a:lnR w="12700" cap="flat" cmpd="sng" algn="ctr">
                      <a:solidFill>
                        <a:srgbClr val="C9B5A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9B5A8"/>
                      </a:solidFill>
                      <a:prstDash val="solid"/>
                      <a:round/>
                      <a:headEnd type="none" w="med" len="med"/>
                      <a:tailEnd type="none" w="med" len="med"/>
                    </a:lnB>
                    <a:solidFill>
                      <a:srgbClr val="FCE3D2"/>
                    </a:solidFill>
                  </a:tcPr>
                </a:tc>
              </a:tr>
              <a:tr h="436880">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T04</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9B5A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Procesar correos</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9B5A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3</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9B5A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6880">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T05</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Ejecutar pruebas</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7</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Shape 3"/>
          <p:cNvSpPr/>
          <p:nvPr/>
        </p:nvSpPr>
        <p:spPr>
          <a:xfrm>
            <a:off x="7289800" y="1998980"/>
            <a:ext cx="4089400" cy="2631440"/>
          </a:xfrm>
          <a:prstGeom prst="roundRect">
            <a:avLst>
              <a:gd name="adj" fmla="val 4826"/>
            </a:avLst>
          </a:prstGeom>
          <a:solidFill>
            <a:srgbClr val="13263A"/>
          </a:solidFill>
          <a:ln/>
        </p:spPr>
      </p:sp>
      <p:sp>
        <p:nvSpPr>
          <p:cNvPr id="7" name="Text 4"/>
          <p:cNvSpPr/>
          <p:nvPr/>
        </p:nvSpPr>
        <p:spPr>
          <a:xfrm>
            <a:off x="7543800" y="2252980"/>
            <a:ext cx="3688842"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2A65A"/>
                </a:solidFill>
                <a:latin typeface="IBM Plex Sans" pitchFamily="34" charset="0"/>
                <a:ea typeface="IBM Plex Sans" pitchFamily="34" charset="-122"/>
                <a:cs typeface="IBM Plex Sans" pitchFamily="34" charset="-120"/>
              </a:rPr>
              <a:t>Lo que pide el lab</a:t>
            </a:r>
            <a:endParaRPr lang="en-US" sz="1700" dirty="0"/>
          </a:p>
        </p:txBody>
      </p:sp>
      <p:sp>
        <p:nvSpPr>
          <p:cNvPr id="8" name="Text 5"/>
          <p:cNvSpPr/>
          <p:nvPr/>
        </p:nvSpPr>
        <p:spPr>
          <a:xfrm>
            <a:off x="7543800" y="2626360"/>
            <a:ext cx="38354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5F7FA"/>
                </a:solidFill>
                <a:latin typeface="IBM Plex Sans" pitchFamily="34" charset="0"/>
                <a:ea typeface="IBM Plex Sans" pitchFamily="34" charset="-122"/>
                <a:cs typeface="IBM Plex Sans" pitchFamily="34" charset="-120"/>
              </a:rPr>
              <a:t>Max-Heap en un arreglo, sin nodos ni punteros.</a:t>
            </a:r>
            <a:endParaRPr lang="en-US" sz="1300" dirty="0"/>
          </a:p>
        </p:txBody>
      </p:sp>
      <p:sp>
        <p:nvSpPr>
          <p:cNvPr id="9" name="Text 6"/>
          <p:cNvSpPr/>
          <p:nvPr/>
        </p:nvSpPr>
        <p:spPr>
          <a:xfrm>
            <a:off x="7543800" y="2971800"/>
            <a:ext cx="368884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5F7FA"/>
                </a:solidFill>
                <a:latin typeface="IBM Plex Sans" pitchFamily="34" charset="0"/>
                <a:ea typeface="IBM Plex Sans" pitchFamily="34" charset="-122"/>
                <a:cs typeface="IBM Plex Sans" pitchFamily="34" charset="-120"/>
              </a:rPr>
              <a:t>MAX-HEAPIFY, BUILD-MAX-HEAP, MAXIMUM, EXTRACT-MAX e insertar.</a:t>
            </a:r>
            <a:endParaRPr lang="en-US" sz="1300" dirty="0"/>
          </a:p>
        </p:txBody>
      </p:sp>
      <p:sp>
        <p:nvSpPr>
          <p:cNvPr id="10" name="Text 7"/>
          <p:cNvSpPr/>
          <p:nvPr/>
        </p:nvSpPr>
        <p:spPr>
          <a:xfrm>
            <a:off x="7543800" y="3548380"/>
            <a:ext cx="368884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5F7FA"/>
                </a:solidFill>
                <a:latin typeface="IBM Plex Sans" pitchFamily="34" charset="0"/>
                <a:ea typeface="IBM Plex Sans" pitchFamily="34" charset="-122"/>
                <a:cs typeface="IBM Plex Sans" pitchFamily="34" charset="-120"/>
              </a:rPr>
              <a:t>HeapSort manual, sin heapq, sort() ni sorted().</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1F6BC0"/>
                </a:solidFill>
                <a:latin typeface="IBM Plex Sans" pitchFamily="34" charset="0"/>
                <a:ea typeface="IBM Plex Sans" pitchFamily="34" charset="-122"/>
                <a:cs typeface="IBM Plex Sans" pitchFamily="34" charset="-120"/>
              </a:rPr>
              <a:t>EL MAX-HEAP EN UN ARREGLO</a:t>
            </a:r>
            <a:endParaRPr lang="en-US" sz="1300" dirty="0"/>
          </a:p>
        </p:txBody>
      </p:sp>
      <p:sp>
        <p:nvSpPr>
          <p:cNvPr id="3" name="Text 1"/>
          <p:cNvSpPr/>
          <p:nvPr>
            <p:ph type="title"/>
          </p:nvPr>
        </p:nvSpPr>
        <p:spPr>
          <a:xfrm>
            <a:off x="812800" y="127254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63A"/>
                </a:solidFill>
                <a:latin typeface="IBM Plex Sans" pitchFamily="34" charset="0"/>
                <a:ea typeface="IBM Plex Sans" pitchFamily="34" charset="-122"/>
                <a:cs typeface="IBM Plex Sans" pitchFamily="34" charset="-120"/>
              </a:rPr>
              <a:t>Un árbol completo cabe en una lista, sin punteros.</a:t>
            </a:r>
            <a:endParaRPr lang="en-US" sz="3200" dirty="0"/>
          </a:p>
        </p:txBody>
      </p:sp>
      <p:sp>
        <p:nvSpPr>
          <p:cNvPr id="4" name="Shape 2"/>
          <p:cNvSpPr/>
          <p:nvPr/>
        </p:nvSpPr>
        <p:spPr>
          <a:xfrm>
            <a:off x="819150" y="1954530"/>
            <a:ext cx="4147820" cy="4020820"/>
          </a:xfrm>
          <a:prstGeom prst="roundRect">
            <a:avLst>
              <a:gd name="adj" fmla="val 3001"/>
            </a:avLst>
          </a:prstGeom>
          <a:solidFill>
            <a:srgbClr val="FFFFFF"/>
          </a:solidFill>
          <a:ln w="12700">
            <a:solidFill>
              <a:srgbClr val="DCE3EC"/>
            </a:solidFill>
            <a:prstDash val="solid"/>
          </a:ln>
        </p:spPr>
      </p:sp>
      <p:pic>
        <p:nvPicPr>
          <p:cNvPr id="5" name="Image 0" descr="Árbol del Max-Heap con raíz 10, hijos 7 y 8, y nietos 3 y 4; abajo el arreglo [10, 7, 8, 3, 4] con índices 0 a 4">    </p:cNvPr>
          <p:cNvPicPr>
            <a:picLocks noChangeAspect="1"/>
          </p:cNvPicPr>
          <p:nvPr/>
        </p:nvPicPr>
        <p:blipFill>
          <a:blip r:embed="rId1"/>
          <a:srcRect l="-24" r="-24" t="0" b="0"/>
          <a:stretch/>
        </p:blipFill>
        <p:spPr>
          <a:xfrm>
            <a:off x="924560" y="2059941"/>
            <a:ext cx="3937000" cy="3810000"/>
          </a:xfrm>
          <a:prstGeom prst="rect">
            <a:avLst/>
          </a:prstGeom>
        </p:spPr>
      </p:pic>
      <p:sp>
        <p:nvSpPr>
          <p:cNvPr id="6" name="Shape 3"/>
          <p:cNvSpPr/>
          <p:nvPr/>
        </p:nvSpPr>
        <p:spPr>
          <a:xfrm>
            <a:off x="5278120" y="2776220"/>
            <a:ext cx="6101080" cy="1333500"/>
          </a:xfrm>
          <a:prstGeom prst="roundRect">
            <a:avLst>
              <a:gd name="adj" fmla="val 9524"/>
            </a:avLst>
          </a:prstGeom>
          <a:solidFill>
            <a:srgbClr val="13263A"/>
          </a:solidFill>
          <a:ln/>
        </p:spPr>
      </p:sp>
      <p:sp>
        <p:nvSpPr>
          <p:cNvPr id="7" name="Text 4"/>
          <p:cNvSpPr/>
          <p:nvPr/>
        </p:nvSpPr>
        <p:spPr>
          <a:xfrm>
            <a:off x="5532120" y="2979420"/>
            <a:ext cx="576087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5F7FA"/>
                </a:solidFill>
                <a:latin typeface="JetBrains Mono" pitchFamily="49" charset="0"/>
                <a:ea typeface="JetBrains Mono" pitchFamily="49" charset="-122"/>
                <a:cs typeface="JetBrains Mono" pitchFamily="49" charset="-120"/>
              </a:rPr>
              <a:t>hijo izquierdo = 2i + 1</a:t>
            </a:r>
            <a:endParaRPr lang="en-US" sz="1500" dirty="0"/>
          </a:p>
        </p:txBody>
      </p:sp>
      <p:sp>
        <p:nvSpPr>
          <p:cNvPr id="8" name="Text 5"/>
          <p:cNvSpPr/>
          <p:nvPr/>
        </p:nvSpPr>
        <p:spPr>
          <a:xfrm>
            <a:off x="5532120" y="3309620"/>
            <a:ext cx="576087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5F7FA"/>
                </a:solidFill>
                <a:latin typeface="JetBrains Mono" pitchFamily="49" charset="0"/>
                <a:ea typeface="JetBrains Mono" pitchFamily="49" charset="-122"/>
                <a:cs typeface="JetBrains Mono" pitchFamily="49" charset="-120"/>
              </a:rPr>
              <a:t>hijo derecho = 2i + 2</a:t>
            </a:r>
            <a:endParaRPr lang="en-US" sz="1500" dirty="0"/>
          </a:p>
        </p:txBody>
      </p:sp>
      <p:sp>
        <p:nvSpPr>
          <p:cNvPr id="9" name="Text 6"/>
          <p:cNvSpPr/>
          <p:nvPr/>
        </p:nvSpPr>
        <p:spPr>
          <a:xfrm>
            <a:off x="5532120" y="3639820"/>
            <a:ext cx="576087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5F7FA"/>
                </a:solidFill>
                <a:latin typeface="JetBrains Mono" pitchFamily="49" charset="0"/>
                <a:ea typeface="JetBrains Mono" pitchFamily="49" charset="-122"/>
                <a:cs typeface="JetBrains Mono" pitchFamily="49" charset="-120"/>
              </a:rPr>
              <a:t>padre = (i − 1) // 2</a:t>
            </a:r>
            <a:endParaRPr lang="en-US" sz="1500" dirty="0"/>
          </a:p>
        </p:txBody>
      </p:sp>
      <p:sp>
        <p:nvSpPr>
          <p:cNvPr id="10" name="Text 7"/>
          <p:cNvSpPr/>
          <p:nvPr/>
        </p:nvSpPr>
        <p:spPr>
          <a:xfrm>
            <a:off x="5278120" y="4249420"/>
            <a:ext cx="691388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3263A"/>
                </a:solidFill>
                <a:latin typeface="IBM Plex Sans" pitchFamily="34" charset="0"/>
                <a:ea typeface="IBM Plex Sans" pitchFamily="34" charset="-122"/>
                <a:cs typeface="IBM Plex Sans" pitchFamily="34" charset="-120"/>
              </a:rPr>
              <a:t>Propiedad:</a:t>
            </a:r>
            <a:r>
              <a:rPr lang="en-US" sz="1500" dirty="0">
                <a:solidFill>
                  <a:srgbClr val="13263A"/>
                </a:solidFill>
                <a:latin typeface="IBM Plex Sans" pitchFamily="34" charset="0"/>
                <a:ea typeface="IBM Plex Sans" pitchFamily="34" charset="-122"/>
                <a:cs typeface="IBM Plex Sans" pitchFamily="34" charset="-120"/>
              </a:rPr>
              <a:t> la prioridad del padre es mayor o igual que la de sus hijos.</a:t>
            </a:r>
            <a:endParaRPr lang="en-US" sz="1500" dirty="0"/>
          </a:p>
        </p:txBody>
      </p:sp>
      <p:sp>
        <p:nvSpPr>
          <p:cNvPr id="11" name="Text 8"/>
          <p:cNvSpPr/>
          <p:nvPr/>
        </p:nvSpPr>
        <p:spPr>
          <a:xfrm>
            <a:off x="5278120" y="4655820"/>
            <a:ext cx="628411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6C"/>
                </a:solidFill>
                <a:latin typeface="IBM Plex Sans" pitchFamily="34" charset="0"/>
                <a:ea typeface="IBM Plex Sans" pitchFamily="34" charset="-122"/>
                <a:cs typeface="IBM Plex Sans" pitchFamily="34" charset="-120"/>
              </a:rPr>
              <a:t>Cada posición guarda la tarea completa (código, nombre y prioridad) y se compara solo por prioridad.</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1F6BC0"/>
                </a:solidFill>
                <a:latin typeface="IBM Plex Sans" pitchFamily="34" charset="0"/>
                <a:ea typeface="IBM Plex Sans" pitchFamily="34" charset="-122"/>
                <a:cs typeface="IBM Plex Sans" pitchFamily="34" charset="-120"/>
              </a:rPr>
              <a:t>MAX-HEAPIFY Y BUILD-MAX-HEAP</a:t>
            </a:r>
            <a:endParaRPr lang="en-US" sz="1300" dirty="0"/>
          </a:p>
        </p:txBody>
      </p:sp>
      <p:sp>
        <p:nvSpPr>
          <p:cNvPr id="3" name="Text 1"/>
          <p:cNvSpPr/>
          <p:nvPr>
            <p:ph type="title"/>
          </p:nvPr>
        </p:nvSpPr>
        <p:spPr>
          <a:xfrm>
            <a:off x="812800" y="127254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63A"/>
                </a:solidFill>
                <a:latin typeface="IBM Plex Sans" pitchFamily="34" charset="0"/>
                <a:ea typeface="IBM Plex Sans" pitchFamily="34" charset="-122"/>
                <a:cs typeface="IBM Plex Sans" pitchFamily="34" charset="-120"/>
              </a:rPr>
              <a:t>El nodo baja hasta que es mayor que sus hijos.</a:t>
            </a:r>
            <a:endParaRPr lang="en-US" sz="3200" dirty="0"/>
          </a:p>
        </p:txBody>
      </p:sp>
      <p:sp>
        <p:nvSpPr>
          <p:cNvPr id="4" name="Shape 2"/>
          <p:cNvSpPr/>
          <p:nvPr/>
        </p:nvSpPr>
        <p:spPr>
          <a:xfrm>
            <a:off x="812800" y="1948180"/>
            <a:ext cx="6731000" cy="3383280"/>
          </a:xfrm>
          <a:prstGeom prst="roundRect">
            <a:avLst>
              <a:gd name="adj" fmla="val 3754"/>
            </a:avLst>
          </a:prstGeom>
          <a:solidFill>
            <a:srgbClr val="13263A"/>
          </a:solidFill>
          <a:ln/>
        </p:spPr>
      </p:sp>
      <p:sp>
        <p:nvSpPr>
          <p:cNvPr id="5" name="Text 3"/>
          <p:cNvSpPr/>
          <p:nvPr/>
        </p:nvSpPr>
        <p:spPr>
          <a:xfrm>
            <a:off x="1066800" y="2176780"/>
            <a:ext cx="6409690"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F2A65A"/>
                </a:solidFill>
                <a:latin typeface="JetBrains Mono" pitchFamily="49" charset="0"/>
                <a:ea typeface="JetBrains Mono" pitchFamily="49" charset="-122"/>
                <a:cs typeface="JetBrains Mono" pitchFamily="49" charset="-120"/>
              </a:rPr>
              <a:t>def max_heapify(heap, i, tam):</a:t>
            </a:r>
            <a:endParaRPr lang="en-US" sz="1200" dirty="0"/>
          </a:p>
        </p:txBody>
      </p:sp>
      <p:sp>
        <p:nvSpPr>
          <p:cNvPr id="6" name="Text 4"/>
          <p:cNvSpPr/>
          <p:nvPr/>
        </p:nvSpPr>
        <p:spPr>
          <a:xfrm>
            <a:off x="1066800" y="2402841"/>
            <a:ext cx="6409690"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CF3"/>
                </a:solidFill>
                <a:latin typeface="JetBrains Mono" pitchFamily="49" charset="0"/>
                <a:ea typeface="JetBrains Mono" pitchFamily="49" charset="-122"/>
                <a:cs typeface="JetBrains Mono" pitchFamily="49" charset="-120"/>
              </a:rPr>
              <a:t>    izq, der, mayor = 2*i + 1, 2*i + 2, i</a:t>
            </a:r>
            <a:endParaRPr lang="en-US" sz="1200" dirty="0"/>
          </a:p>
        </p:txBody>
      </p:sp>
      <p:sp>
        <p:nvSpPr>
          <p:cNvPr id="7" name="Text 5"/>
          <p:cNvSpPr/>
          <p:nvPr/>
        </p:nvSpPr>
        <p:spPr>
          <a:xfrm>
            <a:off x="1066800" y="2628900"/>
            <a:ext cx="6409690"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CF3"/>
                </a:solidFill>
                <a:latin typeface="JetBrains Mono" pitchFamily="49" charset="0"/>
                <a:ea typeface="JetBrains Mono" pitchFamily="49" charset="-122"/>
                <a:cs typeface="JetBrains Mono" pitchFamily="49" charset="-120"/>
              </a:rPr>
              <a:t>    if izq &lt; tam and heap[izq] &gt; heap[mayor]: mayor = izq</a:t>
            </a:r>
            <a:endParaRPr lang="en-US" sz="1200" dirty="0"/>
          </a:p>
        </p:txBody>
      </p:sp>
      <p:sp>
        <p:nvSpPr>
          <p:cNvPr id="8" name="Text 6"/>
          <p:cNvSpPr/>
          <p:nvPr/>
        </p:nvSpPr>
        <p:spPr>
          <a:xfrm>
            <a:off x="1066800" y="2854961"/>
            <a:ext cx="6409690"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CF3"/>
                </a:solidFill>
                <a:latin typeface="JetBrains Mono" pitchFamily="49" charset="0"/>
                <a:ea typeface="JetBrains Mono" pitchFamily="49" charset="-122"/>
                <a:cs typeface="JetBrains Mono" pitchFamily="49" charset="-120"/>
              </a:rPr>
              <a:t>    if der &lt; tam and heap[der] &gt; heap[mayor]: mayor = der</a:t>
            </a:r>
            <a:endParaRPr lang="en-US" sz="1200" dirty="0"/>
          </a:p>
        </p:txBody>
      </p:sp>
      <p:sp>
        <p:nvSpPr>
          <p:cNvPr id="9" name="Text 7"/>
          <p:cNvSpPr/>
          <p:nvPr/>
        </p:nvSpPr>
        <p:spPr>
          <a:xfrm>
            <a:off x="1066800" y="3081020"/>
            <a:ext cx="6409690"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CF3"/>
                </a:solidFill>
                <a:latin typeface="JetBrains Mono" pitchFamily="49" charset="0"/>
                <a:ea typeface="JetBrains Mono" pitchFamily="49" charset="-122"/>
                <a:cs typeface="JetBrains Mono" pitchFamily="49" charset="-120"/>
              </a:rPr>
              <a:t>    if mayor != i:</a:t>
            </a:r>
            <a:endParaRPr lang="en-US" sz="1200" dirty="0"/>
          </a:p>
        </p:txBody>
      </p:sp>
      <p:sp>
        <p:nvSpPr>
          <p:cNvPr id="10" name="Text 8"/>
          <p:cNvSpPr/>
          <p:nvPr/>
        </p:nvSpPr>
        <p:spPr>
          <a:xfrm>
            <a:off x="1066800" y="3307080"/>
            <a:ext cx="6409690"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CF3"/>
                </a:solidFill>
                <a:latin typeface="JetBrains Mono" pitchFamily="49" charset="0"/>
                <a:ea typeface="JetBrains Mono" pitchFamily="49" charset="-122"/>
                <a:cs typeface="JetBrains Mono" pitchFamily="49" charset="-120"/>
              </a:rPr>
              <a:t>        heap[i], heap[mayor] = heap[mayor], heap[i]</a:t>
            </a:r>
            <a:endParaRPr lang="en-US" sz="1200" dirty="0"/>
          </a:p>
        </p:txBody>
      </p:sp>
      <p:sp>
        <p:nvSpPr>
          <p:cNvPr id="11" name="Text 9"/>
          <p:cNvSpPr/>
          <p:nvPr/>
        </p:nvSpPr>
        <p:spPr>
          <a:xfrm>
            <a:off x="1066800" y="3533141"/>
            <a:ext cx="6409690"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CF3"/>
                </a:solidFill>
                <a:latin typeface="JetBrains Mono" pitchFamily="49" charset="0"/>
                <a:ea typeface="JetBrains Mono" pitchFamily="49" charset="-122"/>
                <a:cs typeface="JetBrains Mono" pitchFamily="49" charset="-120"/>
              </a:rPr>
              <a:t>        max_heapify(heap, mayor, tam)</a:t>
            </a:r>
            <a:endParaRPr lang="en-US" sz="1200" dirty="0"/>
          </a:p>
        </p:txBody>
      </p:sp>
      <p:sp>
        <p:nvSpPr>
          <p:cNvPr id="12" name="Text 10"/>
          <p:cNvSpPr/>
          <p:nvPr/>
        </p:nvSpPr>
        <p:spPr>
          <a:xfrm>
            <a:off x="1066800" y="3985261"/>
            <a:ext cx="6409690"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F2A65A"/>
                </a:solidFill>
                <a:latin typeface="JetBrains Mono" pitchFamily="49" charset="0"/>
                <a:ea typeface="JetBrains Mono" pitchFamily="49" charset="-122"/>
                <a:cs typeface="JetBrains Mono" pitchFamily="49" charset="-120"/>
              </a:rPr>
              <a:t>def build_max_heap(tareas):</a:t>
            </a:r>
            <a:endParaRPr lang="en-US" sz="1200" dirty="0"/>
          </a:p>
        </p:txBody>
      </p:sp>
      <p:sp>
        <p:nvSpPr>
          <p:cNvPr id="13" name="Text 11"/>
          <p:cNvSpPr/>
          <p:nvPr/>
        </p:nvSpPr>
        <p:spPr>
          <a:xfrm>
            <a:off x="1066800" y="4211320"/>
            <a:ext cx="6409690"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CF3"/>
                </a:solidFill>
                <a:latin typeface="JetBrains Mono" pitchFamily="49" charset="0"/>
                <a:ea typeface="JetBrains Mono" pitchFamily="49" charset="-122"/>
                <a:cs typeface="JetBrains Mono" pitchFamily="49" charset="-120"/>
              </a:rPr>
              <a:t>    heap = tareas[:]</a:t>
            </a:r>
            <a:endParaRPr lang="en-US" sz="1200" dirty="0"/>
          </a:p>
        </p:txBody>
      </p:sp>
      <p:sp>
        <p:nvSpPr>
          <p:cNvPr id="14" name="Text 12"/>
          <p:cNvSpPr/>
          <p:nvPr/>
        </p:nvSpPr>
        <p:spPr>
          <a:xfrm>
            <a:off x="1066800" y="4437380"/>
            <a:ext cx="6409690"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CF3"/>
                </a:solidFill>
                <a:latin typeface="JetBrains Mono" pitchFamily="49" charset="0"/>
                <a:ea typeface="JetBrains Mono" pitchFamily="49" charset="-122"/>
                <a:cs typeface="JetBrains Mono" pitchFamily="49" charset="-120"/>
              </a:rPr>
              <a:t>    for i in range(len(heap) // 2 - 1, -1, -1):</a:t>
            </a:r>
            <a:endParaRPr lang="en-US" sz="1200" dirty="0"/>
          </a:p>
        </p:txBody>
      </p:sp>
      <p:sp>
        <p:nvSpPr>
          <p:cNvPr id="15" name="Text 13"/>
          <p:cNvSpPr/>
          <p:nvPr/>
        </p:nvSpPr>
        <p:spPr>
          <a:xfrm>
            <a:off x="1066800" y="4663441"/>
            <a:ext cx="6409690"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CF3"/>
                </a:solidFill>
                <a:latin typeface="JetBrains Mono" pitchFamily="49" charset="0"/>
                <a:ea typeface="JetBrains Mono" pitchFamily="49" charset="-122"/>
                <a:cs typeface="JetBrains Mono" pitchFamily="49" charset="-120"/>
              </a:rPr>
              <a:t>        max_heapify(heap, i, len(heap))</a:t>
            </a:r>
            <a:endParaRPr lang="en-US" sz="1200" dirty="0"/>
          </a:p>
        </p:txBody>
      </p:sp>
      <p:sp>
        <p:nvSpPr>
          <p:cNvPr id="16" name="Text 14"/>
          <p:cNvSpPr/>
          <p:nvPr/>
        </p:nvSpPr>
        <p:spPr>
          <a:xfrm>
            <a:off x="1066800" y="4889500"/>
            <a:ext cx="6409690"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CF3"/>
                </a:solidFill>
                <a:latin typeface="JetBrains Mono" pitchFamily="49" charset="0"/>
                <a:ea typeface="JetBrains Mono" pitchFamily="49" charset="-122"/>
                <a:cs typeface="JetBrains Mono" pitchFamily="49" charset="-120"/>
              </a:rPr>
              <a:t>    return heap</a:t>
            </a:r>
            <a:endParaRPr lang="en-US" sz="1200" dirty="0"/>
          </a:p>
        </p:txBody>
      </p:sp>
      <p:sp>
        <p:nvSpPr>
          <p:cNvPr id="17" name="Text 15"/>
          <p:cNvSpPr/>
          <p:nvPr/>
        </p:nvSpPr>
        <p:spPr>
          <a:xfrm>
            <a:off x="7797800" y="1948180"/>
            <a:ext cx="3688842" cy="77216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63A"/>
                </a:solidFill>
                <a:latin typeface="IBM Plex Sans" pitchFamily="34" charset="0"/>
                <a:ea typeface="IBM Plex Sans" pitchFamily="34" charset="-122"/>
                <a:cs typeface="IBM Plex Sans" pitchFamily="34" charset="-120"/>
              </a:rPr>
              <a:t>MAX-HEAPIFY</a:t>
            </a:r>
            <a:r>
              <a:rPr lang="en-US" sz="1400" dirty="0">
                <a:solidFill>
                  <a:srgbClr val="13263A"/>
                </a:solidFill>
                <a:latin typeface="IBM Plex Sans" pitchFamily="34" charset="0"/>
                <a:ea typeface="IBM Plex Sans" pitchFamily="34" charset="-122"/>
                <a:cs typeface="IBM Plex Sans" pitchFamily="34" charset="-120"/>
              </a:rPr>
              <a:t> compara el nodo con sus dos hijos; si uno es mayor, los intercambia y sigue bajando.</a:t>
            </a:r>
            <a:endParaRPr lang="en-US" sz="1400" dirty="0"/>
          </a:p>
        </p:txBody>
      </p:sp>
      <p:sp>
        <p:nvSpPr>
          <p:cNvPr id="18" name="Text 16"/>
          <p:cNvSpPr/>
          <p:nvPr/>
        </p:nvSpPr>
        <p:spPr>
          <a:xfrm>
            <a:off x="7797800" y="2821941"/>
            <a:ext cx="3688842"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63A"/>
                </a:solidFill>
                <a:latin typeface="IBM Plex Sans" pitchFamily="34" charset="0"/>
                <a:ea typeface="IBM Plex Sans" pitchFamily="34" charset="-122"/>
                <a:cs typeface="IBM Plex Sans" pitchFamily="34" charset="-120"/>
              </a:rPr>
              <a:t>BUILD-MAX-HEAP</a:t>
            </a:r>
            <a:r>
              <a:rPr lang="en-US" sz="1400" dirty="0">
                <a:solidFill>
                  <a:srgbClr val="13263A"/>
                </a:solidFill>
                <a:latin typeface="IBM Plex Sans" pitchFamily="34" charset="0"/>
                <a:ea typeface="IBM Plex Sans" pitchFamily="34" charset="-122"/>
                <a:cs typeface="IBM Plex Sans" pitchFamily="34" charset="-120"/>
              </a:rPr>
              <a:t> arranca en n/2 − 1 porque de ahí en adelante todos son hojas.</a:t>
            </a:r>
            <a:endParaRPr lang="en-US" sz="1400" dirty="0"/>
          </a:p>
        </p:txBody>
      </p:sp>
      <p:sp>
        <p:nvSpPr>
          <p:cNvPr id="19" name="Text 17"/>
          <p:cNvSpPr/>
          <p:nvPr/>
        </p:nvSpPr>
        <p:spPr>
          <a:xfrm>
            <a:off x="7797800" y="3446780"/>
            <a:ext cx="368884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C"/>
                </a:solidFill>
                <a:latin typeface="IBM Plex Sans" pitchFamily="34" charset="0"/>
                <a:ea typeface="IBM Plex Sans" pitchFamily="34" charset="-122"/>
                <a:cs typeface="IBM Plex Sans" pitchFamily="34" charset="-120"/>
              </a:rPr>
              <a:t>Código simplificado: en el notebook se compara heap[x]["prioridad"].</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1F6BC0"/>
                </a:solidFill>
                <a:latin typeface="IBM Plex Sans" pitchFamily="34" charset="0"/>
                <a:ea typeface="IBM Plex Sans" pitchFamily="34" charset="-122"/>
                <a:cs typeface="IBM Plex Sans" pitchFamily="34" charset="-120"/>
              </a:rPr>
              <a:t>BUILD-MAX-HEAP PASO A PASO</a:t>
            </a:r>
            <a:endParaRPr lang="en-US" sz="1300" dirty="0"/>
          </a:p>
        </p:txBody>
      </p:sp>
      <p:sp>
        <p:nvSpPr>
          <p:cNvPr id="3" name="Text 1"/>
          <p:cNvSpPr/>
          <p:nvPr>
            <p:ph type="title"/>
          </p:nvPr>
        </p:nvSpPr>
        <p:spPr>
          <a:xfrm>
            <a:off x="812800" y="1247139"/>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3263A"/>
                </a:solidFill>
                <a:latin typeface="IBM Plex Sans" pitchFamily="34" charset="0"/>
                <a:ea typeface="IBM Plex Sans" pitchFamily="34" charset="-122"/>
                <a:cs typeface="IBM Plex Sans" pitchFamily="34" charset="-120"/>
              </a:rPr>
              <a:t>De [8, 4, 10, 3, 7] a [10, 7, 8, 3, 4] con dos intercambios.</a:t>
            </a:r>
            <a:endParaRPr lang="en-US" sz="2800" dirty="0"/>
          </a:p>
        </p:txBody>
      </p:sp>
      <p:sp>
        <p:nvSpPr>
          <p:cNvPr id="4" name="Shape 2"/>
          <p:cNvSpPr/>
          <p:nvPr/>
        </p:nvSpPr>
        <p:spPr>
          <a:xfrm>
            <a:off x="819150" y="1847850"/>
            <a:ext cx="10553700" cy="3335020"/>
          </a:xfrm>
          <a:prstGeom prst="roundRect">
            <a:avLst>
              <a:gd name="adj" fmla="val 3618"/>
            </a:avLst>
          </a:prstGeom>
          <a:solidFill>
            <a:srgbClr val="FFFFFF"/>
          </a:solidFill>
          <a:ln w="12700">
            <a:solidFill>
              <a:srgbClr val="DCE3EC"/>
            </a:solidFill>
            <a:prstDash val="solid"/>
          </a:ln>
        </p:spPr>
      </p:sp>
      <p:pic>
        <p:nvPicPr>
          <p:cNvPr id="5" name="Image 0" descr="Tres pasos: en i = 1 el 4 cambia con el 7; en i = 0 el 8 cambia con el 10; resultado [10, 7, 8, 3, 4]. Los nodos que se intercambian están en naranja">    </p:cNvPr>
          <p:cNvPicPr>
            <a:picLocks noChangeAspect="1"/>
          </p:cNvPicPr>
          <p:nvPr/>
        </p:nvPicPr>
        <p:blipFill>
          <a:blip r:embed="rId1"/>
          <a:srcRect l="-8" r="-8" t="0" b="0"/>
          <a:stretch/>
        </p:blipFill>
        <p:spPr>
          <a:xfrm>
            <a:off x="1924050" y="1927861"/>
            <a:ext cx="8343900" cy="3175000"/>
          </a:xfrm>
          <a:prstGeom prst="rect">
            <a:avLst/>
          </a:prstGeom>
        </p:spPr>
      </p:pic>
      <p:sp>
        <p:nvSpPr>
          <p:cNvPr id="6" name="Text 3"/>
          <p:cNvSpPr/>
          <p:nvPr/>
        </p:nvSpPr>
        <p:spPr>
          <a:xfrm>
            <a:off x="812800" y="5392421"/>
            <a:ext cx="1088339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C"/>
                </a:solidFill>
                <a:latin typeface="IBM Plex Sans" pitchFamily="34" charset="0"/>
                <a:ea typeface="IBM Plex Sans" pitchFamily="34" charset="-122"/>
                <a:cs typeface="IBM Plex Sans" pitchFamily="34" charset="-120"/>
              </a:rPr>
              <a:t>En naranja, los nodos que se intercambian. Con n = 5 se empieza en i = 1.</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1F6BC0"/>
                </a:solidFill>
                <a:latin typeface="IBM Plex Sans" pitchFamily="34" charset="0"/>
                <a:ea typeface="IBM Plex Sans" pitchFamily="34" charset="-122"/>
                <a:cs typeface="IBM Plex Sans" pitchFamily="34" charset="-120"/>
              </a:rPr>
              <a:t>COLA DE PRIORIDAD · MAXIMUM Y EXTRACT-MAX</a:t>
            </a:r>
            <a:endParaRPr lang="en-US" sz="1300" dirty="0"/>
          </a:p>
        </p:txBody>
      </p:sp>
      <p:sp>
        <p:nvSpPr>
          <p:cNvPr id="3" name="Text 1"/>
          <p:cNvSpPr/>
          <p:nvPr>
            <p:ph type="title"/>
          </p:nvPr>
        </p:nvSpPr>
        <p:spPr>
          <a:xfrm>
            <a:off x="812800" y="1247139"/>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3263A"/>
                </a:solidFill>
                <a:latin typeface="IBM Plex Sans" pitchFamily="34" charset="0"/>
                <a:ea typeface="IBM Plex Sans" pitchFamily="34" charset="-122"/>
                <a:cs typeface="IBM Plex Sans" pitchFamily="34" charset="-120"/>
              </a:rPr>
              <a:t>MAXIMUM lee la raíz. EXTRACT-MAX la saca y reorganiza.</a:t>
            </a:r>
            <a:endParaRPr lang="en-US" sz="2800" dirty="0"/>
          </a:p>
        </p:txBody>
      </p:sp>
      <p:sp>
        <p:nvSpPr>
          <p:cNvPr id="4" name="Shape 2"/>
          <p:cNvSpPr/>
          <p:nvPr/>
        </p:nvSpPr>
        <p:spPr>
          <a:xfrm>
            <a:off x="819150" y="1847850"/>
            <a:ext cx="10553700" cy="3335020"/>
          </a:xfrm>
          <a:prstGeom prst="roundRect">
            <a:avLst>
              <a:gd name="adj" fmla="val 3618"/>
            </a:avLst>
          </a:prstGeom>
          <a:solidFill>
            <a:srgbClr val="FFFFFF"/>
          </a:solidFill>
          <a:ln w="12700">
            <a:solidFill>
              <a:srgbClr val="DCE3EC"/>
            </a:solidFill>
            <a:prstDash val="solid"/>
          </a:ln>
        </p:spPr>
      </p:sp>
      <p:pic>
        <p:nvPicPr>
          <p:cNvPr id="5" name="Image 0" descr="Tres pasos de EXTRACT-MAX: sale la raíz 10; el último elemento, 4, sube a la raíz; MAX-HEAPIFY lo cambia con el 8 y queda [8, 7, 4, 3]">    </p:cNvPr>
          <p:cNvPicPr>
            <a:picLocks noChangeAspect="1"/>
          </p:cNvPicPr>
          <p:nvPr/>
        </p:nvPicPr>
        <p:blipFill>
          <a:blip r:embed="rId1"/>
          <a:srcRect l="-8" r="-8" t="0" b="0"/>
          <a:stretch/>
        </p:blipFill>
        <p:spPr>
          <a:xfrm>
            <a:off x="1924050" y="1927861"/>
            <a:ext cx="8343900" cy="3175000"/>
          </a:xfrm>
          <a:prstGeom prst="rect">
            <a:avLst/>
          </a:prstGeom>
        </p:spPr>
      </p:pic>
      <p:sp>
        <p:nvSpPr>
          <p:cNvPr id="6" name="Text 3"/>
          <p:cNvSpPr/>
          <p:nvPr/>
        </p:nvSpPr>
        <p:spPr>
          <a:xfrm>
            <a:off x="812800" y="5392421"/>
            <a:ext cx="1088339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C"/>
                </a:solidFill>
                <a:latin typeface="IBM Plex Sans" pitchFamily="34" charset="0"/>
                <a:ea typeface="IBM Plex Sans" pitchFamily="34" charset="-122"/>
                <a:cs typeface="IBM Plex Sans" pitchFamily="34" charset="-120"/>
              </a:rPr>
              <a:t>MAXIMUM: heap[0], O(1) · EXTRACT-MAX: raíz ← último y MAX-HEAPIFY(0), O(log 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1F6BC0"/>
                </a:solidFill>
                <a:latin typeface="IBM Plex Sans" pitchFamily="34" charset="0"/>
                <a:ea typeface="IBM Plex Sans" pitchFamily="34" charset="-122"/>
                <a:cs typeface="IBM Plex Sans" pitchFamily="34" charset="-120"/>
              </a:rPr>
              <a:t>COLA DE PRIORIDAD · INSERTAR</a:t>
            </a:r>
            <a:endParaRPr lang="en-US" sz="1300" dirty="0"/>
          </a:p>
        </p:txBody>
      </p:sp>
      <p:sp>
        <p:nvSpPr>
          <p:cNvPr id="3" name="Text 1"/>
          <p:cNvSpPr/>
          <p:nvPr>
            <p:ph type="title"/>
          </p:nvPr>
        </p:nvSpPr>
        <p:spPr>
          <a:xfrm>
            <a:off x="812800" y="1247139"/>
            <a:ext cx="10883392" cy="8077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3263A"/>
                </a:solidFill>
                <a:latin typeface="IBM Plex Sans" pitchFamily="34" charset="0"/>
                <a:ea typeface="IBM Plex Sans" pitchFamily="34" charset="-122"/>
                <a:cs typeface="IBM Plex Sans" pitchFamily="34" charset="-120"/>
              </a:rPr>
              <a:t>La tarea nueva entra al final y sube mientras su padre sea menor.</a:t>
            </a:r>
            <a:endParaRPr lang="en-US" sz="2800" dirty="0"/>
          </a:p>
        </p:txBody>
      </p:sp>
      <p:sp>
        <p:nvSpPr>
          <p:cNvPr id="4" name="Shape 2"/>
          <p:cNvSpPr/>
          <p:nvPr/>
        </p:nvSpPr>
        <p:spPr>
          <a:xfrm>
            <a:off x="819150" y="2239011"/>
            <a:ext cx="10553700" cy="3335020"/>
          </a:xfrm>
          <a:prstGeom prst="roundRect">
            <a:avLst>
              <a:gd name="adj" fmla="val 3618"/>
            </a:avLst>
          </a:prstGeom>
          <a:solidFill>
            <a:srgbClr val="FFFFFF"/>
          </a:solidFill>
          <a:ln w="12700">
            <a:solidFill>
              <a:srgbClr val="DCE3EC"/>
            </a:solidFill>
            <a:prstDash val="solid"/>
          </a:ln>
        </p:spPr>
      </p:sp>
      <p:pic>
        <p:nvPicPr>
          <p:cNvPr id="5" name="Image 0" descr="Tres pasos de la inserción de T06 con prioridad 12: entra al final, cambia con su padre 7, luego con el 8, y llega a la raíz; queda [12, 8, 4, 3, 7]">    </p:cNvPr>
          <p:cNvPicPr>
            <a:picLocks noChangeAspect="1"/>
          </p:cNvPicPr>
          <p:nvPr/>
        </p:nvPicPr>
        <p:blipFill>
          <a:blip r:embed="rId1"/>
          <a:srcRect l="-8" r="-8" t="0" b="0"/>
          <a:stretch/>
        </p:blipFill>
        <p:spPr>
          <a:xfrm>
            <a:off x="1924050" y="2319021"/>
            <a:ext cx="8343900" cy="3175000"/>
          </a:xfrm>
          <a:prstGeom prst="rect">
            <a:avLst/>
          </a:prstGeom>
        </p:spPr>
      </p:pic>
      <p:sp>
        <p:nvSpPr>
          <p:cNvPr id="6" name="Text 3"/>
          <p:cNvSpPr/>
          <p:nvPr/>
        </p:nvSpPr>
        <p:spPr>
          <a:xfrm>
            <a:off x="812800" y="5783582"/>
            <a:ext cx="1088339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C"/>
                </a:solidFill>
                <a:latin typeface="IBM Plex Sans" pitchFamily="34" charset="0"/>
                <a:ea typeface="IBM Plex Sans" pitchFamily="34" charset="-122"/>
                <a:cs typeface="IBM Plex Sans" pitchFamily="34" charset="-120"/>
              </a:rPr>
              <a:t>T06 · Actualizar servidor · prioridad 12. Sube como máximo la altura del árbol: O(log 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1F6BC0"/>
                </a:solidFill>
                <a:latin typeface="IBM Plex Sans" pitchFamily="34" charset="0"/>
                <a:ea typeface="IBM Plex Sans" pitchFamily="34" charset="-122"/>
                <a:cs typeface="IBM Plex Sans" pitchFamily="34" charset="-120"/>
              </a:rPr>
              <a:t>HEAPSORT</a:t>
            </a:r>
            <a:endParaRPr lang="en-US" sz="1300" dirty="0"/>
          </a:p>
        </p:txBody>
      </p:sp>
      <p:sp>
        <p:nvSpPr>
          <p:cNvPr id="3" name="Text 1"/>
          <p:cNvSpPr/>
          <p:nvPr>
            <p:ph type="title"/>
          </p:nvPr>
        </p:nvSpPr>
        <p:spPr>
          <a:xfrm>
            <a:off x="812800" y="1272539"/>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3263A"/>
                </a:solidFill>
                <a:latin typeface="IBM Plex Sans" pitchFamily="34" charset="0"/>
                <a:ea typeface="IBM Plex Sans" pitchFamily="34" charset="-122"/>
                <a:cs typeface="IBM Plex Sans" pitchFamily="34" charset="-120"/>
              </a:rPr>
              <a:t>El mayor va al final y el heap se achica en cada paso.</a:t>
            </a:r>
            <a:endParaRPr lang="en-US" sz="2800" dirty="0"/>
          </a:p>
        </p:txBody>
      </p:sp>
      <p:sp>
        <p:nvSpPr>
          <p:cNvPr id="4" name="Shape 2"/>
          <p:cNvSpPr/>
          <p:nvPr/>
        </p:nvSpPr>
        <p:spPr>
          <a:xfrm>
            <a:off x="812800" y="1892300"/>
            <a:ext cx="4826000" cy="3068320"/>
          </a:xfrm>
          <a:prstGeom prst="roundRect">
            <a:avLst>
              <a:gd name="adj" fmla="val 4139"/>
            </a:avLst>
          </a:prstGeom>
          <a:solidFill>
            <a:srgbClr val="13263A"/>
          </a:solidFill>
          <a:ln/>
        </p:spPr>
      </p:sp>
      <p:sp>
        <p:nvSpPr>
          <p:cNvPr id="5" name="Text 3"/>
          <p:cNvSpPr/>
          <p:nvPr/>
        </p:nvSpPr>
        <p:spPr>
          <a:xfrm>
            <a:off x="1066800" y="2120900"/>
            <a:ext cx="4447540" cy="246380"/>
          </a:xfrm>
          <a:prstGeom prst="rect">
            <a:avLst/>
          </a:prstGeom>
          <a:noFill/>
          <a:ln/>
        </p:spPr>
        <p:txBody>
          <a:bodyPr wrap="none" lIns="0" tIns="0" rIns="0" bIns="0" rtlCol="0" anchor="t">
            <a:normAutofit/>
          </a:bodyPr>
          <a:lstStyle/>
          <a:p>
            <a:pPr algn="l" indent="0" marL="0">
              <a:lnSpc>
                <a:spcPts val="1740"/>
              </a:lnSpc>
              <a:buNone/>
            </a:pPr>
            <a:r>
              <a:rPr lang="en-US" sz="1200" dirty="0">
                <a:solidFill>
                  <a:srgbClr val="F2A65A"/>
                </a:solidFill>
                <a:latin typeface="JetBrains Mono" pitchFamily="49" charset="0"/>
                <a:ea typeface="JetBrains Mono" pitchFamily="49" charset="-122"/>
                <a:cs typeface="JetBrains Mono" pitchFamily="49" charset="-120"/>
              </a:rPr>
              <a:t>def heapsort(tareas):</a:t>
            </a:r>
            <a:endParaRPr lang="en-US" sz="1200" dirty="0"/>
          </a:p>
        </p:txBody>
      </p:sp>
      <p:sp>
        <p:nvSpPr>
          <p:cNvPr id="6" name="Text 4"/>
          <p:cNvSpPr/>
          <p:nvPr/>
        </p:nvSpPr>
        <p:spPr>
          <a:xfrm>
            <a:off x="1066800" y="2354582"/>
            <a:ext cx="4447540" cy="246380"/>
          </a:xfrm>
          <a:prstGeom prst="rect">
            <a:avLst/>
          </a:prstGeom>
          <a:noFill/>
          <a:ln/>
        </p:spPr>
        <p:txBody>
          <a:bodyPr wrap="none" lIns="0" tIns="0" rIns="0" bIns="0" rtlCol="0" anchor="t">
            <a:normAutofit/>
          </a:bodyPr>
          <a:lstStyle/>
          <a:p>
            <a:pPr algn="l" indent="0" marL="0">
              <a:lnSpc>
                <a:spcPts val="1740"/>
              </a:lnSpc>
              <a:buNone/>
            </a:pPr>
            <a:r>
              <a:rPr lang="en-US" sz="1200" dirty="0">
                <a:solidFill>
                  <a:srgbClr val="E6ECF3"/>
                </a:solidFill>
                <a:latin typeface="JetBrains Mono" pitchFamily="49" charset="0"/>
                <a:ea typeface="JetBrains Mono" pitchFamily="49" charset="-122"/>
                <a:cs typeface="JetBrains Mono" pitchFamily="49" charset="-120"/>
              </a:rPr>
              <a:t>    heap = build_max_heap(tareas)</a:t>
            </a:r>
            <a:endParaRPr lang="en-US" sz="1200" dirty="0"/>
          </a:p>
        </p:txBody>
      </p:sp>
      <p:sp>
        <p:nvSpPr>
          <p:cNvPr id="7" name="Text 5"/>
          <p:cNvSpPr/>
          <p:nvPr/>
        </p:nvSpPr>
        <p:spPr>
          <a:xfrm>
            <a:off x="1066800" y="2588261"/>
            <a:ext cx="4447540" cy="246380"/>
          </a:xfrm>
          <a:prstGeom prst="rect">
            <a:avLst/>
          </a:prstGeom>
          <a:noFill/>
          <a:ln/>
        </p:spPr>
        <p:txBody>
          <a:bodyPr wrap="none" lIns="0" tIns="0" rIns="0" bIns="0" rtlCol="0" anchor="t">
            <a:normAutofit/>
          </a:bodyPr>
          <a:lstStyle/>
          <a:p>
            <a:pPr algn="l" indent="0" marL="0">
              <a:lnSpc>
                <a:spcPts val="1740"/>
              </a:lnSpc>
              <a:buNone/>
            </a:pPr>
            <a:r>
              <a:rPr lang="en-US" sz="1200" dirty="0">
                <a:solidFill>
                  <a:srgbClr val="E6ECF3"/>
                </a:solidFill>
                <a:latin typeface="JetBrains Mono" pitchFamily="49" charset="0"/>
                <a:ea typeface="JetBrains Mono" pitchFamily="49" charset="-122"/>
                <a:cs typeface="JetBrains Mono" pitchFamily="49" charset="-120"/>
              </a:rPr>
              <a:t>    for fin in range(len(heap) - 1, 0, -1):</a:t>
            </a:r>
            <a:endParaRPr lang="en-US" sz="1200" dirty="0"/>
          </a:p>
        </p:txBody>
      </p:sp>
      <p:sp>
        <p:nvSpPr>
          <p:cNvPr id="8" name="Text 6"/>
          <p:cNvSpPr/>
          <p:nvPr/>
        </p:nvSpPr>
        <p:spPr>
          <a:xfrm>
            <a:off x="1066800" y="2821939"/>
            <a:ext cx="4447540" cy="246380"/>
          </a:xfrm>
          <a:prstGeom prst="rect">
            <a:avLst/>
          </a:prstGeom>
          <a:noFill/>
          <a:ln/>
        </p:spPr>
        <p:txBody>
          <a:bodyPr wrap="none" lIns="0" tIns="0" rIns="0" bIns="0" rtlCol="0" anchor="t">
            <a:normAutofit/>
          </a:bodyPr>
          <a:lstStyle/>
          <a:p>
            <a:pPr algn="l" indent="0" marL="0">
              <a:lnSpc>
                <a:spcPts val="1740"/>
              </a:lnSpc>
              <a:buNone/>
            </a:pPr>
            <a:r>
              <a:rPr lang="en-US" sz="1200" dirty="0">
                <a:solidFill>
                  <a:srgbClr val="E6ECF3"/>
                </a:solidFill>
                <a:latin typeface="JetBrains Mono" pitchFamily="49" charset="0"/>
                <a:ea typeface="JetBrains Mono" pitchFamily="49" charset="-122"/>
                <a:cs typeface="JetBrains Mono" pitchFamily="49" charset="-120"/>
              </a:rPr>
              <a:t>        heap[0], heap[fin] = heap[fin], heap[0]</a:t>
            </a:r>
            <a:endParaRPr lang="en-US" sz="1200" dirty="0"/>
          </a:p>
        </p:txBody>
      </p:sp>
      <p:sp>
        <p:nvSpPr>
          <p:cNvPr id="9" name="Text 7"/>
          <p:cNvSpPr/>
          <p:nvPr/>
        </p:nvSpPr>
        <p:spPr>
          <a:xfrm>
            <a:off x="1066800" y="3055621"/>
            <a:ext cx="4447540" cy="246380"/>
          </a:xfrm>
          <a:prstGeom prst="rect">
            <a:avLst/>
          </a:prstGeom>
          <a:noFill/>
          <a:ln/>
        </p:spPr>
        <p:txBody>
          <a:bodyPr wrap="none" lIns="0" tIns="0" rIns="0" bIns="0" rtlCol="0" anchor="t">
            <a:normAutofit/>
          </a:bodyPr>
          <a:lstStyle/>
          <a:p>
            <a:pPr algn="l" indent="0" marL="0">
              <a:lnSpc>
                <a:spcPts val="1740"/>
              </a:lnSpc>
              <a:buNone/>
            </a:pPr>
            <a:r>
              <a:rPr lang="en-US" sz="1200" dirty="0">
                <a:solidFill>
                  <a:srgbClr val="E6ECF3"/>
                </a:solidFill>
                <a:latin typeface="JetBrains Mono" pitchFamily="49" charset="0"/>
                <a:ea typeface="JetBrains Mono" pitchFamily="49" charset="-122"/>
                <a:cs typeface="JetBrains Mono" pitchFamily="49" charset="-120"/>
              </a:rPr>
              <a:t>        max_heapify(heap, 0, fin)</a:t>
            </a:r>
            <a:endParaRPr lang="en-US" sz="1200" dirty="0"/>
          </a:p>
        </p:txBody>
      </p:sp>
      <p:sp>
        <p:nvSpPr>
          <p:cNvPr id="10" name="Text 8"/>
          <p:cNvSpPr/>
          <p:nvPr/>
        </p:nvSpPr>
        <p:spPr>
          <a:xfrm>
            <a:off x="1066800" y="3289300"/>
            <a:ext cx="4447540" cy="246380"/>
          </a:xfrm>
          <a:prstGeom prst="rect">
            <a:avLst/>
          </a:prstGeom>
          <a:noFill/>
          <a:ln/>
        </p:spPr>
        <p:txBody>
          <a:bodyPr wrap="none" lIns="0" tIns="0" rIns="0" bIns="0" rtlCol="0" anchor="t">
            <a:normAutofit/>
          </a:bodyPr>
          <a:lstStyle/>
          <a:p>
            <a:pPr algn="l" indent="0" marL="0">
              <a:lnSpc>
                <a:spcPts val="1740"/>
              </a:lnSpc>
              <a:buNone/>
            </a:pPr>
            <a:r>
              <a:rPr lang="en-US" sz="1200" dirty="0">
                <a:solidFill>
                  <a:srgbClr val="E6ECF3"/>
                </a:solidFill>
                <a:latin typeface="JetBrains Mono" pitchFamily="49" charset="0"/>
                <a:ea typeface="JetBrains Mono" pitchFamily="49" charset="-122"/>
                <a:cs typeface="JetBrains Mono" pitchFamily="49" charset="-120"/>
              </a:rPr>
              <a:t>    return heap</a:t>
            </a:r>
            <a:endParaRPr lang="en-US" sz="1200" dirty="0"/>
          </a:p>
        </p:txBody>
      </p:sp>
      <p:sp>
        <p:nvSpPr>
          <p:cNvPr id="11" name="Text 9"/>
          <p:cNvSpPr/>
          <p:nvPr/>
        </p:nvSpPr>
        <p:spPr>
          <a:xfrm>
            <a:off x="1066800" y="3756661"/>
            <a:ext cx="4447540" cy="2463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9FB0C4"/>
                </a:solidFill>
                <a:latin typeface="JetBrains Mono" pitchFamily="49" charset="0"/>
                <a:ea typeface="JetBrains Mono" pitchFamily="49" charset="-122"/>
                <a:cs typeface="JetBrains Mono" pitchFamily="49" charset="-120"/>
              </a:rPr>
              <a:t>Sin heapq, sort() ni sorted().</a:t>
            </a:r>
            <a:endParaRPr lang="en-US" sz="1200" dirty="0"/>
          </a:p>
        </p:txBody>
      </p:sp>
      <p:sp>
        <p:nvSpPr>
          <p:cNvPr id="12" name="Shape 10"/>
          <p:cNvSpPr/>
          <p:nvPr/>
        </p:nvSpPr>
        <p:spPr>
          <a:xfrm>
            <a:off x="5892800" y="1892300"/>
            <a:ext cx="5486400" cy="3068320"/>
          </a:xfrm>
          <a:prstGeom prst="rect">
            <a:avLst/>
          </a:prstGeom>
          <a:solidFill>
            <a:srgbClr val="FFFFFF"/>
          </a:solidFill>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902960" y="1902460"/>
          <a:ext cx="5476240" cy="3058160"/>
        </p:xfrm>
        <a:graphic>
          <a:graphicData uri="http://schemas.openxmlformats.org/drawingml/2006/table">
            <a:tbl>
              <a:tblPr/>
              <a:tblGrid>
                <a:gridCol w="1752397"/>
                <a:gridCol w="3723843"/>
              </a:tblGrid>
              <a:tr h="436880">
                <a:tc>
                  <a:txBody>
                    <a:bodyPr/>
                    <a:lstStyle/>
                    <a:p>
                      <a:pPr indent="0" marL="0">
                        <a:lnSpc>
                          <a:spcPts val="1960"/>
                        </a:lnSpc>
                        <a:buNone/>
                      </a:pPr>
                      <a:r>
                        <a:rPr lang="en-US" sz="1400" b="1" dirty="0">
                          <a:solidFill>
                            <a:srgbClr val="F5F7FA"/>
                          </a:solidFill>
                          <a:latin typeface="IBM Plex Sans" pitchFamily="34" charset="0"/>
                          <a:ea typeface="IBM Plex Sans" pitchFamily="34" charset="-122"/>
                          <a:cs typeface="IBM Plex Sans" pitchFamily="34" charset="-120"/>
                        </a:rPr>
                        <a:t>Paso</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13223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32231"/>
                      </a:solidFill>
                      <a:prstDash val="solid"/>
                      <a:round/>
                      <a:headEnd type="none" w="med" len="med"/>
                      <a:tailEnd type="none" w="med" len="med"/>
                    </a:lnB>
                    <a:solidFill>
                      <a:srgbClr val="13263A"/>
                    </a:solidFill>
                  </a:tcPr>
                </a:tc>
                <a:tc>
                  <a:txBody>
                    <a:bodyPr/>
                    <a:lstStyle/>
                    <a:p>
                      <a:pPr indent="0" marL="0">
                        <a:lnSpc>
                          <a:spcPts val="1960"/>
                        </a:lnSpc>
                        <a:buNone/>
                      </a:pPr>
                      <a:r>
                        <a:rPr lang="en-US" sz="1400" b="1" dirty="0">
                          <a:solidFill>
                            <a:srgbClr val="F5F7FA"/>
                          </a:solidFill>
                          <a:latin typeface="IBM Plex Sans" pitchFamily="34" charset="0"/>
                          <a:ea typeface="IBM Plex Sans" pitchFamily="34" charset="-122"/>
                          <a:cs typeface="IBM Plex Sans" pitchFamily="34" charset="-120"/>
                        </a:rPr>
                        <a:t>Arreglo (ordenado tras la barra)</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132231"/>
                      </a:solidFill>
                      <a:prstDash val="solid"/>
                      <a:round/>
                      <a:headEnd type="none" w="med" len="med"/>
                      <a:tailEnd type="none" w="med" len="med"/>
                    </a:lnL>
                    <a:lnR w="12700" cap="flat" cmpd="sng" algn="ctr">
                      <a:solidFill>
                        <a:srgbClr val="13223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32231"/>
                      </a:solidFill>
                      <a:prstDash val="solid"/>
                      <a:round/>
                      <a:headEnd type="none" w="med" len="med"/>
                      <a:tailEnd type="none" w="med" len="med"/>
                    </a:lnB>
                    <a:solidFill>
                      <a:srgbClr val="13263A"/>
                    </a:solidFill>
                  </a:tcPr>
                </a:tc>
              </a:tr>
              <a:tr h="436880">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Max-Heap</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322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[10, 7, 8, 3, 4]</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322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6880">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1. sale el 10</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[8, 7, 4, 3 | 10]</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6880">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2. sale el 8</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[7, 3, 4 | 8, 10]</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6880">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3. sale el 7</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[4, 3 | 7, 8, 10]</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6880">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4. sale el 4</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[3 | 4, 7, 8, 10]</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6880">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Resultado</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B0BA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0BAC6"/>
                      </a:solidFill>
                      <a:prstDash val="solid"/>
                      <a:round/>
                      <a:headEnd type="none" w="med" len="med"/>
                      <a:tailEnd type="none" w="med" len="med"/>
                    </a:lnB>
                    <a:solidFill>
                      <a:srgbClr val="DCE9F8"/>
                    </a:solidFill>
                  </a:tcPr>
                </a:tc>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[3, 4, 7, 8, 10]</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B0BAC6"/>
                      </a:solidFill>
                      <a:prstDash val="solid"/>
                      <a:round/>
                      <a:headEnd type="none" w="med" len="med"/>
                      <a:tailEnd type="none" w="med" len="med"/>
                    </a:lnL>
                    <a:lnR w="12700" cap="flat" cmpd="sng" algn="ctr">
                      <a:solidFill>
                        <a:srgbClr val="B0BA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0BAC6"/>
                      </a:solidFill>
                      <a:prstDash val="solid"/>
                      <a:round/>
                      <a:headEnd type="none" w="med" len="med"/>
                      <a:tailEnd type="none" w="med" len="med"/>
                    </a:lnB>
                    <a:solidFill>
                      <a:srgbClr val="DCE9F8"/>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819150" y="605792"/>
            <a:ext cx="3462020" cy="5646420"/>
          </a:xfrm>
          <a:prstGeom prst="roundRect">
            <a:avLst>
              <a:gd name="adj" fmla="val 3485"/>
            </a:avLst>
          </a:prstGeom>
          <a:solidFill>
            <a:srgbClr val="FFFFFF"/>
          </a:solidFill>
          <a:ln w="12700">
            <a:solidFill>
              <a:srgbClr val="DCE3EC"/>
            </a:solidFill>
            <a:prstDash val="solid"/>
          </a:ln>
        </p:spPr>
      </p:sp>
      <p:pic>
        <p:nvPicPr>
          <p:cNvPr id="3" name="Image 0" descr="Diagrama de flujo: leer n tareas, mostrar lista original, BUILD-MAX-HEAP, mostrar heap y árbol, MAXIMUM, verificar si el heap está vacío, EXTRACT-MAX, insertar una tarea, HEAPSORT y mostrar resultados">    </p:cNvPr>
          <p:cNvPicPr>
            <a:picLocks noChangeAspect="1"/>
          </p:cNvPicPr>
          <p:nvPr/>
        </p:nvPicPr>
        <p:blipFill>
          <a:blip r:embed="rId1"/>
          <a:srcRect l="-304" r="-304" t="0" b="0"/>
          <a:stretch/>
        </p:blipFill>
        <p:spPr>
          <a:xfrm>
            <a:off x="899160" y="685800"/>
            <a:ext cx="3302000" cy="5486400"/>
          </a:xfrm>
          <a:prstGeom prst="rect">
            <a:avLst/>
          </a:prstGeom>
        </p:spPr>
      </p:pic>
      <p:sp>
        <p:nvSpPr>
          <p:cNvPr id="4" name="Text 1"/>
          <p:cNvSpPr/>
          <p:nvPr/>
        </p:nvSpPr>
        <p:spPr>
          <a:xfrm>
            <a:off x="4693920" y="1766571"/>
            <a:ext cx="6885839"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1F6BC0"/>
                </a:solidFill>
                <a:latin typeface="IBM Plex Sans" pitchFamily="34" charset="0"/>
                <a:ea typeface="IBM Plex Sans" pitchFamily="34" charset="-122"/>
                <a:cs typeface="IBM Plex Sans" pitchFamily="34" charset="-120"/>
              </a:rPr>
              <a:t>DIAGRAMA DE FLUJO</a:t>
            </a:r>
            <a:endParaRPr lang="en-US" sz="1300" dirty="0"/>
          </a:p>
        </p:txBody>
      </p:sp>
      <p:sp>
        <p:nvSpPr>
          <p:cNvPr id="5" name="Text 2"/>
          <p:cNvSpPr/>
          <p:nvPr>
            <p:ph type="title"/>
          </p:nvPr>
        </p:nvSpPr>
        <p:spPr>
          <a:xfrm>
            <a:off x="4693920" y="2175514"/>
            <a:ext cx="6885839" cy="8077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3263A"/>
                </a:solidFill>
                <a:latin typeface="IBM Plex Sans" pitchFamily="34" charset="0"/>
                <a:ea typeface="IBM Plex Sans" pitchFamily="34" charset="-122"/>
                <a:cs typeface="IBM Plex Sans" pitchFamily="34" charset="-120"/>
              </a:rPr>
              <a:t>El programa sigue los cinco puntos del lab en orden.</a:t>
            </a:r>
            <a:endParaRPr lang="en-US" sz="2800" dirty="0"/>
          </a:p>
        </p:txBody>
      </p:sp>
      <p:sp>
        <p:nvSpPr>
          <p:cNvPr id="6" name="Text 3"/>
          <p:cNvSpPr/>
          <p:nvPr/>
        </p:nvSpPr>
        <p:spPr>
          <a:xfrm>
            <a:off x="4693920" y="3135629"/>
            <a:ext cx="6885839"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63A"/>
                </a:solidFill>
                <a:latin typeface="IBM Plex Sans" pitchFamily="34" charset="0"/>
                <a:ea typeface="IBM Plex Sans" pitchFamily="34" charset="-122"/>
                <a:cs typeface="IBM Plex Sans" pitchFamily="34" charset="-120"/>
              </a:rPr>
              <a:t>1.</a:t>
            </a:r>
            <a:r>
              <a:rPr lang="en-US" sz="1400" dirty="0">
                <a:solidFill>
                  <a:srgbClr val="13263A"/>
                </a:solidFill>
                <a:latin typeface="IBM Plex Sans" pitchFamily="34" charset="0"/>
                <a:ea typeface="IBM Plex Sans" pitchFamily="34" charset="-122"/>
                <a:cs typeface="IBM Plex Sans" pitchFamily="34" charset="-120"/>
              </a:rPr>
              <a:t> Registrar n tareas y mostrar la lista original.</a:t>
            </a:r>
            <a:endParaRPr lang="en-US" sz="1400" dirty="0"/>
          </a:p>
        </p:txBody>
      </p:sp>
      <p:sp>
        <p:nvSpPr>
          <p:cNvPr id="7" name="Text 4"/>
          <p:cNvSpPr/>
          <p:nvPr/>
        </p:nvSpPr>
        <p:spPr>
          <a:xfrm>
            <a:off x="4693920" y="3562350"/>
            <a:ext cx="6885839"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63A"/>
                </a:solidFill>
                <a:latin typeface="IBM Plex Sans" pitchFamily="34" charset="0"/>
                <a:ea typeface="IBM Plex Sans" pitchFamily="34" charset="-122"/>
                <a:cs typeface="IBM Plex Sans" pitchFamily="34" charset="-120"/>
              </a:rPr>
              <a:t>2.</a:t>
            </a:r>
            <a:r>
              <a:rPr lang="en-US" sz="1400" dirty="0">
                <a:solidFill>
                  <a:srgbClr val="13263A"/>
                </a:solidFill>
                <a:latin typeface="IBM Plex Sans" pitchFamily="34" charset="0"/>
                <a:ea typeface="IBM Plex Sans" pitchFamily="34" charset="-122"/>
                <a:cs typeface="IBM Plex Sans" pitchFamily="34" charset="-120"/>
              </a:rPr>
              <a:t> BUILD-MAX-HEAP y mostrar el heap y el árbol.</a:t>
            </a:r>
            <a:endParaRPr lang="en-US" sz="1400" dirty="0"/>
          </a:p>
        </p:txBody>
      </p:sp>
      <p:sp>
        <p:nvSpPr>
          <p:cNvPr id="8" name="Text 5"/>
          <p:cNvSpPr/>
          <p:nvPr/>
        </p:nvSpPr>
        <p:spPr>
          <a:xfrm>
            <a:off x="4693920" y="3989071"/>
            <a:ext cx="6885839"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63A"/>
                </a:solidFill>
                <a:latin typeface="IBM Plex Sans" pitchFamily="34" charset="0"/>
                <a:ea typeface="IBM Plex Sans" pitchFamily="34" charset="-122"/>
                <a:cs typeface="IBM Plex Sans" pitchFamily="34" charset="-120"/>
              </a:rPr>
              <a:t>3.</a:t>
            </a:r>
            <a:r>
              <a:rPr lang="en-US" sz="1400" dirty="0">
                <a:solidFill>
                  <a:srgbClr val="13263A"/>
                </a:solidFill>
                <a:latin typeface="IBM Plex Sans" pitchFamily="34" charset="0"/>
                <a:ea typeface="IBM Plex Sans" pitchFamily="34" charset="-122"/>
                <a:cs typeface="IBM Plex Sans" pitchFamily="34" charset="-120"/>
              </a:rPr>
              <a:t> MAXIMUM, EXTRACT-MAX (si no está vacío) e insertar.</a:t>
            </a:r>
            <a:endParaRPr lang="en-US" sz="1400" dirty="0"/>
          </a:p>
        </p:txBody>
      </p:sp>
      <p:sp>
        <p:nvSpPr>
          <p:cNvPr id="9" name="Text 6"/>
          <p:cNvSpPr/>
          <p:nvPr/>
        </p:nvSpPr>
        <p:spPr>
          <a:xfrm>
            <a:off x="4693920" y="4415792"/>
            <a:ext cx="6885839"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63A"/>
                </a:solidFill>
                <a:latin typeface="IBM Plex Sans" pitchFamily="34" charset="0"/>
                <a:ea typeface="IBM Plex Sans" pitchFamily="34" charset="-122"/>
                <a:cs typeface="IBM Plex Sans" pitchFamily="34" charset="-120"/>
              </a:rPr>
              <a:t>4.</a:t>
            </a:r>
            <a:r>
              <a:rPr lang="en-US" sz="1400" dirty="0">
                <a:solidFill>
                  <a:srgbClr val="13263A"/>
                </a:solidFill>
                <a:latin typeface="IBM Plex Sans" pitchFamily="34" charset="0"/>
                <a:ea typeface="IBM Plex Sans" pitchFamily="34" charset="-122"/>
                <a:cs typeface="IBM Plex Sans" pitchFamily="34" charset="-120"/>
              </a:rPr>
              <a:t> HeapSort: lista original, Max-Heap y lista ordenada.</a:t>
            </a:r>
            <a:endParaRPr lang="en-US" sz="1400" dirty="0"/>
          </a:p>
        </p:txBody>
      </p:sp>
      <p:sp>
        <p:nvSpPr>
          <p:cNvPr id="10" name="Text 7"/>
          <p:cNvSpPr/>
          <p:nvPr/>
        </p:nvSpPr>
        <p:spPr>
          <a:xfrm>
            <a:off x="4693920" y="4842514"/>
            <a:ext cx="6885839"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63A"/>
                </a:solidFill>
                <a:latin typeface="IBM Plex Sans" pitchFamily="34" charset="0"/>
                <a:ea typeface="IBM Plex Sans" pitchFamily="34" charset="-122"/>
                <a:cs typeface="IBM Plex Sans" pitchFamily="34" charset="-120"/>
              </a:rPr>
              <a:t>5.</a:t>
            </a:r>
            <a:r>
              <a:rPr lang="en-US" sz="1400" dirty="0">
                <a:solidFill>
                  <a:srgbClr val="13263A"/>
                </a:solidFill>
                <a:latin typeface="IBM Plex Sans" pitchFamily="34" charset="0"/>
                <a:ea typeface="IBM Plex Sans" pitchFamily="34" charset="-122"/>
                <a:cs typeface="IBM Plex Sans" pitchFamily="34" charset="-120"/>
              </a:rPr>
              <a:t> Prueba final con 6 tareas.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1F6BC0"/>
                </a:solidFill>
                <a:latin typeface="IBM Plex Sans" pitchFamily="34" charset="0"/>
                <a:ea typeface="IBM Plex Sans" pitchFamily="34" charset="-122"/>
                <a:cs typeface="IBM Plex Sans" pitchFamily="34" charset="-120"/>
              </a:rPr>
              <a:t>PRUEBA FINAL CON 6 TAREAS</a:t>
            </a:r>
            <a:endParaRPr lang="en-US" sz="1300" dirty="0"/>
          </a:p>
        </p:txBody>
      </p:sp>
      <p:sp>
        <p:nvSpPr>
          <p:cNvPr id="3" name="Text 1"/>
          <p:cNvSpPr/>
          <p:nvPr>
            <p:ph type="title"/>
          </p:nvPr>
        </p:nvSpPr>
        <p:spPr>
          <a:xfrm>
            <a:off x="812800" y="1272542"/>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3263A"/>
                </a:solidFill>
                <a:latin typeface="IBM Plex Sans" pitchFamily="34" charset="0"/>
                <a:ea typeface="IBM Plex Sans" pitchFamily="34" charset="-122"/>
                <a:cs typeface="IBM Plex Sans" pitchFamily="34" charset="-120"/>
              </a:rPr>
              <a:t>T01 a T06, y en la inserción T07 · Actualizar servidor (12).</a:t>
            </a:r>
            <a:endParaRPr lang="en-US" sz="2800" dirty="0"/>
          </a:p>
        </p:txBody>
      </p:sp>
      <p:sp>
        <p:nvSpPr>
          <p:cNvPr id="4" name="Shape 2"/>
          <p:cNvSpPr/>
          <p:nvPr/>
        </p:nvSpPr>
        <p:spPr>
          <a:xfrm>
            <a:off x="812800" y="1892300"/>
            <a:ext cx="10566400" cy="3068320"/>
          </a:xfrm>
          <a:prstGeom prst="rect">
            <a:avLst/>
          </a:prstGeom>
          <a:solidFill>
            <a:srgbClr val="FFFFFF"/>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1902460"/>
          <a:ext cx="10556240" cy="3058160"/>
        </p:xfrm>
        <a:graphic>
          <a:graphicData uri="http://schemas.openxmlformats.org/drawingml/2006/table">
            <a:tbl>
              <a:tblPr/>
              <a:tblGrid>
                <a:gridCol w="3166872"/>
                <a:gridCol w="7389368"/>
              </a:tblGrid>
              <a:tr h="436880">
                <a:tc>
                  <a:txBody>
                    <a:bodyPr/>
                    <a:lstStyle/>
                    <a:p>
                      <a:pPr indent="0" marL="0">
                        <a:lnSpc>
                          <a:spcPts val="1960"/>
                        </a:lnSpc>
                        <a:buNone/>
                      </a:pPr>
                      <a:r>
                        <a:rPr lang="en-US" sz="1400" b="1" dirty="0">
                          <a:solidFill>
                            <a:srgbClr val="F5F7FA"/>
                          </a:solidFill>
                          <a:latin typeface="IBM Plex Sans" pitchFamily="34" charset="0"/>
                          <a:ea typeface="IBM Plex Sans" pitchFamily="34" charset="-122"/>
                          <a:cs typeface="IBM Plex Sans" pitchFamily="34" charset="-120"/>
                        </a:rPr>
                        <a:t>Paso</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13223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32231"/>
                      </a:solidFill>
                      <a:prstDash val="solid"/>
                      <a:round/>
                      <a:headEnd type="none" w="med" len="med"/>
                      <a:tailEnd type="none" w="med" len="med"/>
                    </a:lnB>
                    <a:solidFill>
                      <a:srgbClr val="13263A"/>
                    </a:solidFill>
                  </a:tcPr>
                </a:tc>
                <a:tc>
                  <a:txBody>
                    <a:bodyPr/>
                    <a:lstStyle/>
                    <a:p>
                      <a:pPr indent="0" marL="0">
                        <a:lnSpc>
                          <a:spcPts val="1960"/>
                        </a:lnSpc>
                        <a:buNone/>
                      </a:pPr>
                      <a:r>
                        <a:rPr lang="en-US" sz="1400" b="1" dirty="0">
                          <a:solidFill>
                            <a:srgbClr val="F5F7FA"/>
                          </a:solidFill>
                          <a:latin typeface="IBM Plex Sans" pitchFamily="34" charset="0"/>
                          <a:ea typeface="IBM Plex Sans" pitchFamily="34" charset="-122"/>
                          <a:cs typeface="IBM Plex Sans" pitchFamily="34" charset="-120"/>
                        </a:rPr>
                        <a:t>Salida del programa</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132231"/>
                      </a:solidFill>
                      <a:prstDash val="solid"/>
                      <a:round/>
                      <a:headEnd type="none" w="med" len="med"/>
                      <a:tailEnd type="none" w="med" len="med"/>
                    </a:lnL>
                    <a:lnR w="12700" cap="flat" cmpd="sng" algn="ctr">
                      <a:solidFill>
                        <a:srgbClr val="13223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32231"/>
                      </a:solidFill>
                      <a:prstDash val="solid"/>
                      <a:round/>
                      <a:headEnd type="none" w="med" len="med"/>
                      <a:tailEnd type="none" w="med" len="med"/>
                    </a:lnB>
                    <a:solidFill>
                      <a:srgbClr val="13263A"/>
                    </a:solidFill>
                  </a:tcPr>
                </a:tc>
              </a:tr>
              <a:tr h="436880">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1. Registro</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322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Lista original: [8, 4, 10, 3, 7, 9] (T06 · Escanear vulnerabilidades, 9)</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322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6880">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2. Max-Heap</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[10, 7, 9, 3, 4, 8]</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6880">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3. MAXIMUM</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T03 · Renderizar video · prioridad 10</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6880">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4. EXTRACT-MAX</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Procesa T03 · nuevo heap [9, 7, 8, 3, 4]</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6880">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5. Insertar T07 (12)</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[12, 7, 9, 3, 4, 8] · el 12 queda en la posición 0</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6880">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6. HeapSort</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B0BA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0BAC6"/>
                      </a:solidFill>
                      <a:prstDash val="solid"/>
                      <a:round/>
                      <a:headEnd type="none" w="med" len="med"/>
                      <a:tailEnd type="none" w="med" len="med"/>
                    </a:lnB>
                    <a:solidFill>
                      <a:srgbClr val="DCE9F8"/>
                    </a:solidFill>
                  </a:tcPr>
                </a:tc>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[3, 4, 7, 8, 9, 10]</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B0BAC6"/>
                      </a:solidFill>
                      <a:prstDash val="solid"/>
                      <a:round/>
                      <a:headEnd type="none" w="med" len="med"/>
                      <a:tailEnd type="none" w="med" len="med"/>
                    </a:lnL>
                    <a:lnR w="12700" cap="flat" cmpd="sng" algn="ctr">
                      <a:solidFill>
                        <a:srgbClr val="B0BA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0BAC6"/>
                      </a:solidFill>
                      <a:prstDash val="solid"/>
                      <a:round/>
                      <a:headEnd type="none" w="med" len="med"/>
                      <a:tailEnd type="none" w="med" len="med"/>
                    </a:lnB>
                    <a:solidFill>
                      <a:srgbClr val="DCE9F8"/>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1F6BC0"/>
                </a:solidFill>
                <a:latin typeface="IBM Plex Sans" pitchFamily="34" charset="0"/>
                <a:ea typeface="IBM Plex Sans" pitchFamily="34" charset="-122"/>
                <a:cs typeface="IBM Plex Sans" pitchFamily="34" charset="-120"/>
              </a:rPr>
              <a:t>ANÁLISIS DE COMPLEJIDAD</a:t>
            </a:r>
            <a:endParaRPr lang="en-US" sz="1300" dirty="0"/>
          </a:p>
        </p:txBody>
      </p:sp>
      <p:sp>
        <p:nvSpPr>
          <p:cNvPr id="3" name="Text 1"/>
          <p:cNvSpPr/>
          <p:nvPr>
            <p:ph type="title"/>
          </p:nvPr>
        </p:nvSpPr>
        <p:spPr>
          <a:xfrm>
            <a:off x="812800" y="1272542"/>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3263A"/>
                </a:solidFill>
                <a:latin typeface="IBM Plex Sans" pitchFamily="34" charset="0"/>
                <a:ea typeface="IBM Plex Sans" pitchFamily="34" charset="-122"/>
                <a:cs typeface="IBM Plex Sans" pitchFamily="34" charset="-120"/>
              </a:rPr>
              <a:t>Todo depende de la altura del árbol: log n.</a:t>
            </a:r>
            <a:endParaRPr lang="en-US" sz="2800" dirty="0"/>
          </a:p>
        </p:txBody>
      </p:sp>
      <p:sp>
        <p:nvSpPr>
          <p:cNvPr id="4" name="Shape 2"/>
          <p:cNvSpPr/>
          <p:nvPr/>
        </p:nvSpPr>
        <p:spPr>
          <a:xfrm>
            <a:off x="812800" y="2019939"/>
            <a:ext cx="5207000" cy="3068320"/>
          </a:xfrm>
          <a:prstGeom prst="rect">
            <a:avLst/>
          </a:prstGeom>
          <a:solidFill>
            <a:srgbClr val="FFFFFF"/>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2030099"/>
          <a:ext cx="5196840" cy="3058160"/>
        </p:xfrm>
        <a:graphic>
          <a:graphicData uri="http://schemas.openxmlformats.org/drawingml/2006/table">
            <a:tbl>
              <a:tblPr/>
              <a:tblGrid>
                <a:gridCol w="2286610"/>
                <a:gridCol w="1455115"/>
                <a:gridCol w="1455115"/>
              </a:tblGrid>
              <a:tr h="436880">
                <a:tc>
                  <a:txBody>
                    <a:bodyPr/>
                    <a:lstStyle/>
                    <a:p>
                      <a:pPr indent="0" marL="0">
                        <a:lnSpc>
                          <a:spcPts val="1960"/>
                        </a:lnSpc>
                        <a:buNone/>
                      </a:pPr>
                      <a:r>
                        <a:rPr lang="en-US" sz="1400" b="1" dirty="0">
                          <a:solidFill>
                            <a:srgbClr val="F5F7FA"/>
                          </a:solidFill>
                          <a:latin typeface="IBM Plex Sans" pitchFamily="34" charset="0"/>
                          <a:ea typeface="IBM Plex Sans" pitchFamily="34" charset="-122"/>
                          <a:cs typeface="IBM Plex Sans" pitchFamily="34" charset="-120"/>
                        </a:rPr>
                        <a:t>Operación</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13223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32231"/>
                      </a:solidFill>
                      <a:prstDash val="solid"/>
                      <a:round/>
                      <a:headEnd type="none" w="med" len="med"/>
                      <a:tailEnd type="none" w="med" len="med"/>
                    </a:lnB>
                    <a:solidFill>
                      <a:srgbClr val="13263A"/>
                    </a:solidFill>
                  </a:tcPr>
                </a:tc>
                <a:tc>
                  <a:txBody>
                    <a:bodyPr/>
                    <a:lstStyle/>
                    <a:p>
                      <a:pPr algn="ctr" indent="0" marL="0">
                        <a:lnSpc>
                          <a:spcPts val="1960"/>
                        </a:lnSpc>
                        <a:buNone/>
                      </a:pPr>
                      <a:r>
                        <a:rPr lang="en-US" sz="1400" b="1" dirty="0">
                          <a:solidFill>
                            <a:srgbClr val="F5F7FA"/>
                          </a:solidFill>
                          <a:latin typeface="IBM Plex Sans" pitchFamily="34" charset="0"/>
                          <a:ea typeface="IBM Plex Sans" pitchFamily="34" charset="-122"/>
                          <a:cs typeface="IBM Plex Sans" pitchFamily="34" charset="-120"/>
                        </a:rPr>
                        <a:t>Mejor</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132231"/>
                      </a:solidFill>
                      <a:prstDash val="solid"/>
                      <a:round/>
                      <a:headEnd type="none" w="med" len="med"/>
                      <a:tailEnd type="none" w="med" len="med"/>
                    </a:lnL>
                    <a:lnR w="12700" cap="flat" cmpd="sng" algn="ctr">
                      <a:solidFill>
                        <a:srgbClr val="13223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32231"/>
                      </a:solidFill>
                      <a:prstDash val="solid"/>
                      <a:round/>
                      <a:headEnd type="none" w="med" len="med"/>
                      <a:tailEnd type="none" w="med" len="med"/>
                    </a:lnB>
                    <a:solidFill>
                      <a:srgbClr val="13263A"/>
                    </a:solidFill>
                  </a:tcPr>
                </a:tc>
                <a:tc>
                  <a:txBody>
                    <a:bodyPr/>
                    <a:lstStyle/>
                    <a:p>
                      <a:pPr algn="ctr" indent="0" marL="0">
                        <a:lnSpc>
                          <a:spcPts val="1960"/>
                        </a:lnSpc>
                        <a:buNone/>
                      </a:pPr>
                      <a:r>
                        <a:rPr lang="en-US" sz="1400" b="1" dirty="0">
                          <a:solidFill>
                            <a:srgbClr val="F5F7FA"/>
                          </a:solidFill>
                          <a:latin typeface="IBM Plex Sans" pitchFamily="34" charset="0"/>
                          <a:ea typeface="IBM Plex Sans" pitchFamily="34" charset="-122"/>
                          <a:cs typeface="IBM Plex Sans" pitchFamily="34" charset="-120"/>
                        </a:rPr>
                        <a:t>Peor</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132231"/>
                      </a:solidFill>
                      <a:prstDash val="solid"/>
                      <a:round/>
                      <a:headEnd type="none" w="med" len="med"/>
                      <a:tailEnd type="none" w="med" len="med"/>
                    </a:lnL>
                    <a:lnR w="12700" cap="flat" cmpd="sng" algn="ctr">
                      <a:solidFill>
                        <a:srgbClr val="13223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32231"/>
                      </a:solidFill>
                      <a:prstDash val="solid"/>
                      <a:round/>
                      <a:headEnd type="none" w="med" len="med"/>
                      <a:tailEnd type="none" w="med" len="med"/>
                    </a:lnB>
                    <a:solidFill>
                      <a:srgbClr val="13263A"/>
                    </a:solidFill>
                  </a:tcPr>
                </a:tc>
              </a:tr>
              <a:tr h="436880">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MAX-HEAPIFY</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322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O(1)</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322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O(log n)</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322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6880">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BUILD-MAX-HEAP</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O(n)</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O(n)</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6880">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MAXIMUM</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O(1)</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O(1)</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6880">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EXTRACT-MAX</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O(1)</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O(log n)</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6880">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Insertar</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O(1)</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O(log n)</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6880">
                <a:tc>
                  <a:txBody>
                    <a:bodyPr/>
                    <a:lstStyle/>
                    <a:p>
                      <a:pP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HEAPSORT</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CBCBCB"/>
                      </a:solidFill>
                      <a:prstDash val="solid"/>
                      <a:round/>
                      <a:headEnd type="none" w="med" len="med"/>
                      <a:tailEnd type="none" w="med" len="med"/>
                    </a:lnL>
                    <a:lnR w="12700" cap="flat" cmpd="sng" algn="ctr">
                      <a:solidFill>
                        <a:srgbClr val="B0BA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0BAC6"/>
                      </a:solidFill>
                      <a:prstDash val="solid"/>
                      <a:round/>
                      <a:headEnd type="none" w="med" len="med"/>
                      <a:tailEnd type="none" w="med" len="med"/>
                    </a:lnB>
                    <a:solidFill>
                      <a:srgbClr val="DCE9F8"/>
                    </a:solidFill>
                  </a:tcPr>
                </a:tc>
                <a:tc>
                  <a:txBody>
                    <a:bodyPr/>
                    <a:lstStyle/>
                    <a:p>
                      <a:pPr algn="ct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O(n)</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B0BAC6"/>
                      </a:solidFill>
                      <a:prstDash val="solid"/>
                      <a:round/>
                      <a:headEnd type="none" w="med" len="med"/>
                      <a:tailEnd type="none" w="med" len="med"/>
                    </a:lnL>
                    <a:lnR w="12700" cap="flat" cmpd="sng" algn="ctr">
                      <a:solidFill>
                        <a:srgbClr val="B0BA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0BAC6"/>
                      </a:solidFill>
                      <a:prstDash val="solid"/>
                      <a:round/>
                      <a:headEnd type="none" w="med" len="med"/>
                      <a:tailEnd type="none" w="med" len="med"/>
                    </a:lnB>
                    <a:solidFill>
                      <a:srgbClr val="DCE9F8"/>
                    </a:solidFill>
                  </a:tcPr>
                </a:tc>
                <a:tc>
                  <a:txBody>
                    <a:bodyPr/>
                    <a:lstStyle/>
                    <a:p>
                      <a:pPr algn="ctr" indent="0" marL="0">
                        <a:lnSpc>
                          <a:spcPts val="1960"/>
                        </a:lnSpc>
                        <a:buNone/>
                      </a:pPr>
                      <a:r>
                        <a:rPr lang="en-US" sz="1400" dirty="0">
                          <a:solidFill>
                            <a:srgbClr val="13263A"/>
                          </a:solidFill>
                          <a:latin typeface="IBM Plex Sans" pitchFamily="34" charset="0"/>
                          <a:ea typeface="IBM Plex Sans" pitchFamily="34" charset="-122"/>
                          <a:cs typeface="IBM Plex Sans" pitchFamily="34" charset="-120"/>
                        </a:rPr>
                        <a:t>O(n log n)</a:t>
                      </a:r>
                      <a:endParaRPr lang="en-US" sz="1400" dirty="0">
                        <a:latin typeface="IBM Plex Sans" charset="0"/>
                        <a:ea typeface="IBM Plex Sans" charset="0"/>
                        <a:cs typeface="IBM Plex Sans" charset="0"/>
                      </a:endParaRPr>
                    </a:p>
                  </a:txBody>
                  <a:tcPr marL="139700" marR="139700" marT="88900" marB="88900" anchor="t">
                    <a:lnL w="12700" cap="flat" cmpd="sng" algn="ctr">
                      <a:solidFill>
                        <a:srgbClr val="B0BAC6"/>
                      </a:solidFill>
                      <a:prstDash val="solid"/>
                      <a:round/>
                      <a:headEnd type="none" w="med" len="med"/>
                      <a:tailEnd type="none" w="med" len="med"/>
                    </a:lnL>
                    <a:lnR w="12700" cap="flat" cmpd="sng" algn="ctr">
                      <a:solidFill>
                        <a:srgbClr val="B0BA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0BAC6"/>
                      </a:solidFill>
                      <a:prstDash val="solid"/>
                      <a:round/>
                      <a:headEnd type="none" w="med" len="med"/>
                      <a:tailEnd type="none" w="med" len="med"/>
                    </a:lnB>
                    <a:solidFill>
                      <a:srgbClr val="DCE9F8"/>
                    </a:solidFill>
                  </a:tcPr>
                </a:tc>
              </a:tr>
            </a:tbl>
          </a:graphicData>
        </a:graphic>
      </p:graphicFrame>
      <p:sp>
        <p:nvSpPr>
          <p:cNvPr id="6" name="Shape 3"/>
          <p:cNvSpPr/>
          <p:nvPr/>
        </p:nvSpPr>
        <p:spPr>
          <a:xfrm>
            <a:off x="6273800" y="1892300"/>
            <a:ext cx="5080000" cy="2990850"/>
          </a:xfrm>
          <a:prstGeom prst="roundRect">
            <a:avLst>
              <a:gd name="adj" fmla="val 3397"/>
            </a:avLst>
          </a:prstGeom>
          <a:solidFill>
            <a:srgbClr val="FFFFFF"/>
          </a:solidFill>
          <a:ln/>
        </p:spPr>
      </p:sp>
      <p:pic>
        <p:nvPicPr>
          <p:cNvPr id="7" name="Image 0" descr="Gráfica de operaciones aproximadas: O(log n) crece muy poco, O(n) crece lineal y O(n log n) es la curva más alta">    </p:cNvPr>
          <p:cNvPicPr>
            <a:picLocks noChangeAspect="1"/>
          </p:cNvPicPr>
          <p:nvPr/>
        </p:nvPicPr>
        <p:blipFill>
          <a:blip r:embed="rId1"/>
          <a:srcRect l="-49" r="-49" t="0" b="0"/>
          <a:stretch/>
        </p:blipFill>
        <p:spPr>
          <a:xfrm>
            <a:off x="6273800" y="1892300"/>
            <a:ext cx="5080000" cy="2990850"/>
          </a:xfrm>
          <a:prstGeom prst="roundRect">
            <a:avLst>
              <a:gd name="adj" fmla="val 3397"/>
            </a:avLst>
          </a:prstGeom>
        </p:spPr>
      </p:pic>
      <p:sp>
        <p:nvSpPr>
          <p:cNvPr id="8" name="Text 4"/>
          <p:cNvSpPr/>
          <p:nvPr/>
        </p:nvSpPr>
        <p:spPr>
          <a:xfrm>
            <a:off x="6273800" y="4984750"/>
            <a:ext cx="525856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63A"/>
                </a:solidFill>
                <a:latin typeface="IBM Plex Sans" pitchFamily="34" charset="0"/>
                <a:ea typeface="IBM Plex Sans" pitchFamily="34" charset="-122"/>
                <a:cs typeface="IBM Plex Sans" pitchFamily="34" charset="-120"/>
              </a:rPr>
              <a:t>HeapSort: T(n) = O(n) + (n − 1) · O(log n) = O(n log n)</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1F6BC0"/>
                </a:solidFill>
                <a:latin typeface="IBM Plex Sans" pitchFamily="34" charset="0"/>
                <a:ea typeface="IBM Plex Sans" pitchFamily="34" charset="-122"/>
                <a:cs typeface="IBM Plex Sans" pitchFamily="34" charset="-120"/>
              </a:rPr>
              <a:t>TESTS APLICADOS</a:t>
            </a:r>
            <a:endParaRPr lang="en-US" sz="1300" dirty="0"/>
          </a:p>
        </p:txBody>
      </p:sp>
      <p:sp>
        <p:nvSpPr>
          <p:cNvPr id="3" name="Text 1"/>
          <p:cNvSpPr/>
          <p:nvPr>
            <p:ph type="title"/>
          </p:nvPr>
        </p:nvSpPr>
        <p:spPr>
          <a:xfrm>
            <a:off x="812800" y="1297942"/>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3263A"/>
                </a:solidFill>
                <a:latin typeface="IBM Plex Sans" pitchFamily="34" charset="0"/>
                <a:ea typeface="IBM Plex Sans" pitchFamily="34" charset="-122"/>
                <a:cs typeface="IBM Plex Sans" pitchFamily="34" charset="-120"/>
              </a:rPr>
              <a:t>20 casos de prueba y 200 listas aleatorias, todos pasan.</a:t>
            </a:r>
            <a:endParaRPr lang="en-US" sz="2800" dirty="0"/>
          </a:p>
        </p:txBody>
      </p:sp>
      <p:sp>
        <p:nvSpPr>
          <p:cNvPr id="4" name="Shape 2"/>
          <p:cNvSpPr/>
          <p:nvPr/>
        </p:nvSpPr>
        <p:spPr>
          <a:xfrm>
            <a:off x="819150" y="1949450"/>
            <a:ext cx="3390900" cy="1678940"/>
          </a:xfrm>
          <a:prstGeom prst="roundRect">
            <a:avLst>
              <a:gd name="adj" fmla="val 7186"/>
            </a:avLst>
          </a:prstGeom>
          <a:solidFill>
            <a:srgbClr val="FFFFFF"/>
          </a:solidFill>
          <a:ln w="12700">
            <a:solidFill>
              <a:srgbClr val="DCE3EC"/>
            </a:solidFill>
            <a:prstDash val="solid"/>
          </a:ln>
        </p:spPr>
      </p:sp>
      <p:pic>
        <p:nvPicPr>
          <p:cNvPr id="5" name="Image 0" descr="CheckCircle">    </p:cNvPr>
          <p:cNvPicPr>
            <a:picLocks noChangeAspect="1"/>
          </p:cNvPicPr>
          <p:nvPr/>
        </p:nvPicPr>
        <p:blipFill>
          <a:blip r:embed="rId1"/>
          <a:srcRect l="0" r="0" t="0" b="0"/>
          <a:stretch/>
        </p:blipFill>
        <p:spPr>
          <a:xfrm>
            <a:off x="1051560" y="2181864"/>
            <a:ext cx="330200" cy="330200"/>
          </a:xfrm>
          <a:prstGeom prst="rect">
            <a:avLst/>
          </a:prstGeom>
        </p:spPr>
      </p:pic>
      <p:sp>
        <p:nvSpPr>
          <p:cNvPr id="6" name="Text 3"/>
          <p:cNvSpPr/>
          <p:nvPr/>
        </p:nvSpPr>
        <p:spPr>
          <a:xfrm>
            <a:off x="1051560" y="2600964"/>
            <a:ext cx="301386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63A"/>
                </a:solidFill>
                <a:latin typeface="IBM Plex Sans" pitchFamily="34" charset="0"/>
                <a:ea typeface="IBM Plex Sans" pitchFamily="34" charset="-122"/>
                <a:cs typeface="IBM Plex Sans" pitchFamily="34" charset="-120"/>
              </a:rPr>
              <a:t>Enunciado</a:t>
            </a:r>
            <a:endParaRPr lang="en-US" sz="1600" dirty="0"/>
          </a:p>
        </p:txBody>
      </p:sp>
      <p:sp>
        <p:nvSpPr>
          <p:cNvPr id="7" name="Text 4"/>
          <p:cNvSpPr/>
          <p:nvPr/>
        </p:nvSpPr>
        <p:spPr>
          <a:xfrm>
            <a:off x="1051560" y="2933700"/>
            <a:ext cx="3013863"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C"/>
                </a:solidFill>
                <a:latin typeface="IBM Plex Sans" pitchFamily="34" charset="0"/>
                <a:ea typeface="IBM Plex Sans" pitchFamily="34" charset="-122"/>
                <a:cs typeface="IBM Plex Sans" pitchFamily="34" charset="-120"/>
              </a:rPr>
              <a:t>[10, 7, 8, 3, 4], [8, 7, 4, 3], el 12 en la raíz y [3, 4, 7, 8, 10].</a:t>
            </a:r>
            <a:endParaRPr lang="en-US" sz="1300" dirty="0"/>
          </a:p>
        </p:txBody>
      </p:sp>
      <p:sp>
        <p:nvSpPr>
          <p:cNvPr id="8" name="Shape 5"/>
          <p:cNvSpPr/>
          <p:nvPr/>
        </p:nvSpPr>
        <p:spPr>
          <a:xfrm>
            <a:off x="4400550" y="1949450"/>
            <a:ext cx="3390900" cy="1678940"/>
          </a:xfrm>
          <a:prstGeom prst="roundRect">
            <a:avLst>
              <a:gd name="adj" fmla="val 7186"/>
            </a:avLst>
          </a:prstGeom>
          <a:solidFill>
            <a:srgbClr val="FFFFFF"/>
          </a:solidFill>
          <a:ln w="12700">
            <a:solidFill>
              <a:srgbClr val="DCE3EC"/>
            </a:solidFill>
            <a:prstDash val="solid"/>
          </a:ln>
        </p:spPr>
      </p:sp>
      <p:pic>
        <p:nvPicPr>
          <p:cNvPr id="9" name="Image 1" descr="Warning">    </p:cNvPr>
          <p:cNvPicPr>
            <a:picLocks noChangeAspect="1"/>
          </p:cNvPicPr>
          <p:nvPr/>
        </p:nvPicPr>
        <p:blipFill>
          <a:blip r:embed="rId2"/>
          <a:srcRect l="0" r="0" t="0" b="0"/>
          <a:stretch/>
        </p:blipFill>
        <p:spPr>
          <a:xfrm>
            <a:off x="4632960" y="2181864"/>
            <a:ext cx="330200" cy="330200"/>
          </a:xfrm>
          <a:prstGeom prst="rect">
            <a:avLst/>
          </a:prstGeom>
        </p:spPr>
      </p:pic>
      <p:sp>
        <p:nvSpPr>
          <p:cNvPr id="10" name="Text 6"/>
          <p:cNvSpPr/>
          <p:nvPr/>
        </p:nvSpPr>
        <p:spPr>
          <a:xfrm>
            <a:off x="4632960" y="2600964"/>
            <a:ext cx="301386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63A"/>
                </a:solidFill>
                <a:latin typeface="IBM Plex Sans" pitchFamily="34" charset="0"/>
                <a:ea typeface="IBM Plex Sans" pitchFamily="34" charset="-122"/>
                <a:cs typeface="IBM Plex Sans" pitchFamily="34" charset="-120"/>
              </a:rPr>
              <a:t>Casos borde</a:t>
            </a:r>
            <a:endParaRPr lang="en-US" sz="1600" dirty="0"/>
          </a:p>
        </p:txBody>
      </p:sp>
      <p:sp>
        <p:nvSpPr>
          <p:cNvPr id="11" name="Text 7"/>
          <p:cNvSpPr/>
          <p:nvPr/>
        </p:nvSpPr>
        <p:spPr>
          <a:xfrm>
            <a:off x="4632960" y="2933700"/>
            <a:ext cx="3013863"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C"/>
                </a:solidFill>
                <a:latin typeface="IBM Plex Sans" pitchFamily="34" charset="0"/>
                <a:ea typeface="IBM Plex Sans" pitchFamily="34" charset="-122"/>
                <a:cs typeface="IBM Plex Sans" pitchFamily="34" charset="-120"/>
              </a:rPr>
              <a:t>Heap vacío, un elemento, prioridades repetidas, lista ordenada e invertida.</a:t>
            </a:r>
            <a:endParaRPr lang="en-US" sz="1300" dirty="0"/>
          </a:p>
        </p:txBody>
      </p:sp>
      <p:sp>
        <p:nvSpPr>
          <p:cNvPr id="12" name="Shape 8"/>
          <p:cNvSpPr/>
          <p:nvPr/>
        </p:nvSpPr>
        <p:spPr>
          <a:xfrm>
            <a:off x="7981950" y="1949450"/>
            <a:ext cx="3390900" cy="1678940"/>
          </a:xfrm>
          <a:prstGeom prst="roundRect">
            <a:avLst>
              <a:gd name="adj" fmla="val 7186"/>
            </a:avLst>
          </a:prstGeom>
          <a:solidFill>
            <a:srgbClr val="FFFFFF"/>
          </a:solidFill>
          <a:ln w="12700">
            <a:solidFill>
              <a:srgbClr val="DCE3EC"/>
            </a:solidFill>
            <a:prstDash val="solid"/>
          </a:ln>
        </p:spPr>
      </p:sp>
      <p:pic>
        <p:nvPicPr>
          <p:cNvPr id="13" name="Image 2" descr="Activity">    </p:cNvPr>
          <p:cNvPicPr>
            <a:picLocks noChangeAspect="1"/>
          </p:cNvPicPr>
          <p:nvPr/>
        </p:nvPicPr>
        <p:blipFill>
          <a:blip r:embed="rId3"/>
          <a:srcRect l="0" r="0" t="0" b="0"/>
          <a:stretch/>
        </p:blipFill>
        <p:spPr>
          <a:xfrm>
            <a:off x="8214360" y="2181864"/>
            <a:ext cx="330200" cy="330200"/>
          </a:xfrm>
          <a:prstGeom prst="rect">
            <a:avLst/>
          </a:prstGeom>
        </p:spPr>
      </p:pic>
      <p:sp>
        <p:nvSpPr>
          <p:cNvPr id="14" name="Text 9"/>
          <p:cNvSpPr/>
          <p:nvPr/>
        </p:nvSpPr>
        <p:spPr>
          <a:xfrm>
            <a:off x="8214360" y="2600964"/>
            <a:ext cx="301386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63A"/>
                </a:solidFill>
                <a:latin typeface="IBM Plex Sans" pitchFamily="34" charset="0"/>
                <a:ea typeface="IBM Plex Sans" pitchFamily="34" charset="-122"/>
                <a:cs typeface="IBM Plex Sans" pitchFamily="34" charset="-120"/>
              </a:rPr>
              <a:t>200 aleatorias</a:t>
            </a:r>
            <a:endParaRPr lang="en-US" sz="1600" dirty="0"/>
          </a:p>
        </p:txBody>
      </p:sp>
      <p:sp>
        <p:nvSpPr>
          <p:cNvPr id="15" name="Text 10"/>
          <p:cNvSpPr/>
          <p:nvPr/>
        </p:nvSpPr>
        <p:spPr>
          <a:xfrm>
            <a:off x="8214360" y="2933700"/>
            <a:ext cx="3013863"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C"/>
                </a:solidFill>
                <a:latin typeface="IBM Plex Sans" pitchFamily="34" charset="0"/>
                <a:ea typeface="IBM Plex Sans" pitchFamily="34" charset="-122"/>
                <a:cs typeface="IBM Plex Sans" pitchFamily="34" charset="-120"/>
              </a:rPr>
              <a:t>El heap siempre cumple la propiedad y HeapSort siempre ordena.</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3263A"/>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F2A65A"/>
                </a:solidFill>
                <a:latin typeface="IBM Plex Sans" pitchFamily="34" charset="0"/>
                <a:ea typeface="IBM Plex Sans" pitchFamily="34" charset="-122"/>
                <a:cs typeface="IBM Plex Sans" pitchFamily="34" charset="-120"/>
              </a:rPr>
              <a:t>CONCLUSIONES</a:t>
            </a:r>
            <a:endParaRPr lang="en-US" sz="1300" dirty="0"/>
          </a:p>
        </p:txBody>
      </p:sp>
      <p:sp>
        <p:nvSpPr>
          <p:cNvPr id="3" name="Text 1"/>
          <p:cNvSpPr/>
          <p:nvPr>
            <p:ph type="title"/>
          </p:nvPr>
        </p:nvSpPr>
        <p:spPr>
          <a:xfrm>
            <a:off x="812800" y="1297942"/>
            <a:ext cx="10883392" cy="9194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5F7FA"/>
                </a:solidFill>
                <a:latin typeface="IBM Plex Sans" pitchFamily="34" charset="0"/>
                <a:ea typeface="IBM Plex Sans" pitchFamily="34" charset="-122"/>
                <a:cs typeface="IBM Plex Sans" pitchFamily="34" charset="-120"/>
              </a:rPr>
              <a:t>Un arreglo basta para tener siempre a mano la tarea más urgente.</a:t>
            </a:r>
            <a:endParaRPr lang="en-US" sz="3200" dirty="0"/>
          </a:p>
        </p:txBody>
      </p:sp>
      <p:sp>
        <p:nvSpPr>
          <p:cNvPr id="4" name="Text 2"/>
          <p:cNvSpPr/>
          <p:nvPr/>
        </p:nvSpPr>
        <p:spPr>
          <a:xfrm>
            <a:off x="812800" y="2446021"/>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5DEE9"/>
                </a:solidFill>
                <a:latin typeface="IBM Plex Sans" pitchFamily="34" charset="0"/>
                <a:ea typeface="IBM Plex Sans" pitchFamily="34" charset="-122"/>
                <a:cs typeface="IBM Plex Sans" pitchFamily="34" charset="-120"/>
              </a:rPr>
              <a:t>Consultar la tarea más urgente cuesta O(1), y procesarla o agregar una nueva cuesta O(log n).</a:t>
            </a:r>
            <a:endParaRPr lang="en-US" sz="1600" dirty="0"/>
          </a:p>
        </p:txBody>
      </p:sp>
      <p:sp>
        <p:nvSpPr>
          <p:cNvPr id="5" name="Text 3"/>
          <p:cNvSpPr/>
          <p:nvPr/>
        </p:nvSpPr>
        <p:spPr>
          <a:xfrm>
            <a:off x="812800" y="285750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5DEE9"/>
                </a:solidFill>
                <a:latin typeface="IBM Plex Sans" pitchFamily="34" charset="0"/>
                <a:ea typeface="IBM Plex Sans" pitchFamily="34" charset="-122"/>
                <a:cs typeface="IBM Plex Sans" pitchFamily="34" charset="-120"/>
              </a:rPr>
              <a:t>BUILD-MAX-HEAP organiza n tareas en O(n), mejor de lo que parece a simple vista.</a:t>
            </a:r>
            <a:endParaRPr lang="en-US" sz="1600" dirty="0"/>
          </a:p>
        </p:txBody>
      </p:sp>
      <p:sp>
        <p:nvSpPr>
          <p:cNvPr id="6" name="Text 4"/>
          <p:cNvSpPr/>
          <p:nvPr/>
        </p:nvSpPr>
        <p:spPr>
          <a:xfrm>
            <a:off x="812800" y="3268979"/>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5DEE9"/>
                </a:solidFill>
                <a:latin typeface="IBM Plex Sans" pitchFamily="34" charset="0"/>
                <a:ea typeface="IBM Plex Sans" pitchFamily="34" charset="-122"/>
                <a:cs typeface="IBM Plex Sans" pitchFamily="34" charset="-120"/>
              </a:rPr>
              <a:t>HeapSort ordena en O(n log n) sin memoria extra y sin funciones de ordenamiento.</a:t>
            </a:r>
            <a:endParaRPr lang="en-US" sz="1600" dirty="0"/>
          </a:p>
        </p:txBody>
      </p:sp>
      <p:sp>
        <p:nvSpPr>
          <p:cNvPr id="7" name="Text 5"/>
          <p:cNvSpPr/>
          <p:nvPr/>
        </p:nvSpPr>
        <p:spPr>
          <a:xfrm>
            <a:off x="812800" y="5725164"/>
            <a:ext cx="10883392"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2A65A"/>
                </a:solidFill>
                <a:latin typeface="IBM Plex Sans" pitchFamily="34" charset="0"/>
                <a:ea typeface="IBM Plex Sans" pitchFamily="34" charset="-122"/>
                <a:cs typeface="IBM Plex Sans" pitchFamily="34" charset="-120"/>
              </a:rPr>
              <a:t>Gracias. ¿Preguntas?</a:t>
            </a:r>
            <a:endParaRPr lang="en-US" sz="1800" dirty="0"/>
          </a:p>
        </p:txBody>
      </p:sp>
    </p:spTree>
  </p:cSld>
  <p:clrMapOvr>
    <a:masterClrMapping/>
  </p:clrMapOvr>
</p:sld>
</file>

<file path=ppt/theme/theme1.xml><?xml version="1.0" encoding="utf-8"?>
<a:theme xmlns:a="http://schemas.openxmlformats.org/drawingml/2006/main" name="Laboratorio Heap y Cola de Prioridad">
  <a:themeElements>
    <a:clrScheme name="Laboratorio Heap y Cola de Prioridad">
      <a:dk1>
        <a:srgbClr val="13263A"/>
      </a:dk1>
      <a:lt1>
        <a:srgbClr val="F5F7FA"/>
      </a:lt1>
      <a:dk2>
        <a:srgbClr val="4C5A6A"/>
      </a:dk2>
      <a:lt2>
        <a:srgbClr val="DEE2E7"/>
      </a:lt2>
      <a:accent1>
        <a:srgbClr val="1F6BC0"/>
      </a:accent1>
      <a:accent2>
        <a:srgbClr val="F2A65A"/>
      </a:accent2>
      <a:accent3>
        <a:srgbClr val="4A5A6C"/>
      </a:accent3>
      <a:accent4>
        <a:srgbClr val="B9C6D6"/>
      </a:accent4>
      <a:accent5>
        <a:srgbClr val="D5DEE9"/>
      </a:accent5>
      <a:accent6>
        <a:srgbClr val="9FB0C4"/>
      </a:accent6>
      <a:hlink>
        <a:srgbClr val="0563C1"/>
      </a:hlink>
      <a:folHlink>
        <a:srgbClr val="954F72"/>
      </a:folHlink>
    </a:clrScheme>
    <a:fontScheme name="Laboratorio Heap y Cola de Prioridad">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Laboratorio Heap y Cola de Prioridad</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2026-10-25T18:46:07Z</dcterms:created>
  <dcterms:modified xsi:type="dcterms:W3CDTF">2026-10-25T18:46:07Z</dcterms:modified>
</cp:coreProperties>
</file>